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8" r:id="rId3"/>
    <p:sldId id="290" r:id="rId4"/>
    <p:sldId id="293" r:id="rId5"/>
    <p:sldId id="297" r:id="rId6"/>
    <p:sldId id="294" r:id="rId7"/>
    <p:sldId id="292" r:id="rId8"/>
    <p:sldId id="295" r:id="rId9"/>
    <p:sldId id="291" r:id="rId10"/>
    <p:sldId id="296" r:id="rId11"/>
    <p:sldId id="289" r:id="rId1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99DC"/>
    <a:srgbClr val="6FC82E"/>
    <a:srgbClr val="00407A"/>
    <a:srgbClr val="2F927E"/>
    <a:srgbClr val="63A9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541394-4A3F-4B2D-A5CE-2CCAAA4ABE1E}" type="datetimeFigureOut">
              <a:rPr lang="it-IT" smtClean="0"/>
              <a:t>12/12/2025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8C667-91C8-469A-9B59-DB453ACDEF9C}" type="slidenum">
              <a:rPr lang="it-IT" smtClean="0"/>
              <a:t>‹N›</a:t>
            </a:fld>
            <a:endParaRPr lang="it-IT"/>
          </a:p>
        </p:txBody>
      </p:sp>
    </p:spTree>
    <p:extLst>
      <p:ext uri="{BB962C8B-B14F-4D97-AF65-F5344CB8AC3E}">
        <p14:creationId xmlns:p14="http://schemas.microsoft.com/office/powerpoint/2010/main" val="532108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smtClean="0"/>
              <a:t>Fare clic per modificare lo stile del titolo</a:t>
            </a:r>
            <a:endParaRPr lang="it-IT"/>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94C58640-45A7-498E-8B97-DBF00DD20B1C}" type="datetime1">
              <a:rPr lang="it-IT" smtClean="0"/>
              <a:t>12/12/2025</a:t>
            </a:fld>
            <a:endParaRPr lang="it-IT"/>
          </a:p>
        </p:txBody>
      </p:sp>
      <p:sp>
        <p:nvSpPr>
          <p:cNvPr id="5" name="Segnaposto piè di pagina 4"/>
          <p:cNvSpPr>
            <a:spLocks noGrp="1"/>
          </p:cNvSpPr>
          <p:nvPr>
            <p:ph type="ftr" sz="quarter" idx="11"/>
          </p:nvPr>
        </p:nvSpPr>
        <p:spPr/>
        <p:txBody>
          <a:bodyPr/>
          <a:lstStyle/>
          <a:p>
            <a:r>
              <a:rPr lang="it-IT" smtClean="0"/>
              <a:t>Financial Report | Berkshire Hathaway</a:t>
            </a:r>
            <a:endParaRPr lang="it-IT"/>
          </a:p>
        </p:txBody>
      </p:sp>
      <p:sp>
        <p:nvSpPr>
          <p:cNvPr id="6" name="Segnaposto numero diapositiva 5"/>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816340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29DBA2C7-05D9-4EEA-B882-A4121715C2BF}" type="datetime1">
              <a:rPr lang="it-IT" smtClean="0"/>
              <a:t>12/12/2025</a:t>
            </a:fld>
            <a:endParaRPr lang="it-IT"/>
          </a:p>
        </p:txBody>
      </p:sp>
      <p:sp>
        <p:nvSpPr>
          <p:cNvPr id="5" name="Segnaposto piè di pagina 4"/>
          <p:cNvSpPr>
            <a:spLocks noGrp="1"/>
          </p:cNvSpPr>
          <p:nvPr>
            <p:ph type="ftr" sz="quarter" idx="11"/>
          </p:nvPr>
        </p:nvSpPr>
        <p:spPr/>
        <p:txBody>
          <a:bodyPr/>
          <a:lstStyle/>
          <a:p>
            <a:r>
              <a:rPr lang="it-IT" smtClean="0"/>
              <a:t>Financial Report | Berkshire Hathaway</a:t>
            </a:r>
            <a:endParaRPr lang="it-IT"/>
          </a:p>
        </p:txBody>
      </p:sp>
      <p:sp>
        <p:nvSpPr>
          <p:cNvPr id="6" name="Segnaposto numero diapositiva 5"/>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2340248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smtClean="0"/>
              <a:t>Fare clic per modificare lo stile del titolo</a:t>
            </a:r>
            <a:endParaRPr lang="it-IT"/>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smtClean="0"/>
              <a:t>Modifica gli stili del testo dello schema</a:t>
            </a:r>
          </a:p>
        </p:txBody>
      </p:sp>
      <p:sp>
        <p:nvSpPr>
          <p:cNvPr id="4" name="Segnaposto data 3"/>
          <p:cNvSpPr>
            <a:spLocks noGrp="1"/>
          </p:cNvSpPr>
          <p:nvPr>
            <p:ph type="dt" sz="half" idx="10"/>
          </p:nvPr>
        </p:nvSpPr>
        <p:spPr/>
        <p:txBody>
          <a:bodyPr/>
          <a:lstStyle/>
          <a:p>
            <a:fld id="{11EC4119-E7D6-44CE-AEF3-2DF82E391077}" type="datetime1">
              <a:rPr lang="it-IT" smtClean="0"/>
              <a:t>12/12/2025</a:t>
            </a:fld>
            <a:endParaRPr lang="it-IT"/>
          </a:p>
        </p:txBody>
      </p:sp>
      <p:sp>
        <p:nvSpPr>
          <p:cNvPr id="5" name="Segnaposto piè di pagina 4"/>
          <p:cNvSpPr>
            <a:spLocks noGrp="1"/>
          </p:cNvSpPr>
          <p:nvPr>
            <p:ph type="ftr" sz="quarter" idx="11"/>
          </p:nvPr>
        </p:nvSpPr>
        <p:spPr/>
        <p:txBody>
          <a:bodyPr/>
          <a:lstStyle/>
          <a:p>
            <a:r>
              <a:rPr lang="it-IT" smtClean="0"/>
              <a:t>Financial Report | Berkshire Hathaway</a:t>
            </a:r>
            <a:endParaRPr lang="it-IT"/>
          </a:p>
        </p:txBody>
      </p:sp>
      <p:sp>
        <p:nvSpPr>
          <p:cNvPr id="6" name="Segnaposto numero diapositiva 5"/>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742851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838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6172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C98E7E16-B728-4B1A-81E8-C8CD6E810B9D}" type="datetime1">
              <a:rPr lang="it-IT" smtClean="0"/>
              <a:t>12/12/2025</a:t>
            </a:fld>
            <a:endParaRPr lang="it-IT"/>
          </a:p>
        </p:txBody>
      </p:sp>
      <p:sp>
        <p:nvSpPr>
          <p:cNvPr id="6" name="Segnaposto piè di pagina 5"/>
          <p:cNvSpPr>
            <a:spLocks noGrp="1"/>
          </p:cNvSpPr>
          <p:nvPr>
            <p:ph type="ftr" sz="quarter" idx="11"/>
          </p:nvPr>
        </p:nvSpPr>
        <p:spPr/>
        <p:txBody>
          <a:bodyPr/>
          <a:lstStyle/>
          <a:p>
            <a:r>
              <a:rPr lang="it-IT" smtClean="0"/>
              <a:t>Financial Report | Berkshire Hathaway</a:t>
            </a:r>
            <a:endParaRPr lang="it-IT"/>
          </a:p>
        </p:txBody>
      </p:sp>
      <p:sp>
        <p:nvSpPr>
          <p:cNvPr id="7" name="Segnaposto numero diapositiva 6"/>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46297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smtClean="0"/>
              <a:t>Fare clic per modificare lo stile del titolo</a:t>
            </a:r>
            <a:endParaRPr lang="it-IT"/>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F9C4727F-F175-407C-9A6A-AC69184A946D}" type="datetime1">
              <a:rPr lang="it-IT" smtClean="0"/>
              <a:t>12/12/2025</a:t>
            </a:fld>
            <a:endParaRPr lang="it-IT"/>
          </a:p>
        </p:txBody>
      </p:sp>
      <p:sp>
        <p:nvSpPr>
          <p:cNvPr id="8" name="Segnaposto piè di pagina 7"/>
          <p:cNvSpPr>
            <a:spLocks noGrp="1"/>
          </p:cNvSpPr>
          <p:nvPr>
            <p:ph type="ftr" sz="quarter" idx="11"/>
          </p:nvPr>
        </p:nvSpPr>
        <p:spPr/>
        <p:txBody>
          <a:bodyPr/>
          <a:lstStyle/>
          <a:p>
            <a:r>
              <a:rPr lang="it-IT" smtClean="0"/>
              <a:t>Financial Report | Berkshire Hathaway</a:t>
            </a:r>
            <a:endParaRPr lang="it-IT"/>
          </a:p>
        </p:txBody>
      </p:sp>
      <p:sp>
        <p:nvSpPr>
          <p:cNvPr id="9" name="Segnaposto numero diapositiva 8"/>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1693703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443119D5-D629-40C5-9523-C5C06C7A69C5}" type="datetime1">
              <a:rPr lang="it-IT" smtClean="0"/>
              <a:t>12/12/2025</a:t>
            </a:fld>
            <a:endParaRPr lang="it-IT"/>
          </a:p>
        </p:txBody>
      </p:sp>
      <p:sp>
        <p:nvSpPr>
          <p:cNvPr id="4" name="Segnaposto piè di pagina 3"/>
          <p:cNvSpPr>
            <a:spLocks noGrp="1"/>
          </p:cNvSpPr>
          <p:nvPr>
            <p:ph type="ftr" sz="quarter" idx="11"/>
          </p:nvPr>
        </p:nvSpPr>
        <p:spPr/>
        <p:txBody>
          <a:bodyPr/>
          <a:lstStyle/>
          <a:p>
            <a:r>
              <a:rPr lang="it-IT" smtClean="0"/>
              <a:t>Financial Report | Berkshire Hathaway</a:t>
            </a:r>
            <a:endParaRPr lang="it-IT"/>
          </a:p>
        </p:txBody>
      </p:sp>
      <p:sp>
        <p:nvSpPr>
          <p:cNvPr id="5" name="Segnaposto numero diapositiva 4"/>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1504166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4AA84DFC-5DBE-450F-911E-FF7B91548686}" type="datetime1">
              <a:rPr lang="it-IT" smtClean="0"/>
              <a:t>12/12/2025</a:t>
            </a:fld>
            <a:endParaRPr lang="it-IT"/>
          </a:p>
        </p:txBody>
      </p:sp>
      <p:sp>
        <p:nvSpPr>
          <p:cNvPr id="3" name="Segnaposto piè di pagina 2"/>
          <p:cNvSpPr>
            <a:spLocks noGrp="1"/>
          </p:cNvSpPr>
          <p:nvPr>
            <p:ph type="ftr" sz="quarter" idx="11"/>
          </p:nvPr>
        </p:nvSpPr>
        <p:spPr/>
        <p:txBody>
          <a:bodyPr/>
          <a:lstStyle/>
          <a:p>
            <a:r>
              <a:rPr lang="it-IT" smtClean="0"/>
              <a:t>Financial Report | Berkshire Hathaway</a:t>
            </a:r>
            <a:endParaRPr lang="it-IT"/>
          </a:p>
        </p:txBody>
      </p:sp>
      <p:sp>
        <p:nvSpPr>
          <p:cNvPr id="4" name="Segnaposto numero diapositiva 3"/>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855940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Segnaposto data 4"/>
          <p:cNvSpPr>
            <a:spLocks noGrp="1"/>
          </p:cNvSpPr>
          <p:nvPr>
            <p:ph type="dt" sz="half" idx="10"/>
          </p:nvPr>
        </p:nvSpPr>
        <p:spPr/>
        <p:txBody>
          <a:bodyPr/>
          <a:lstStyle/>
          <a:p>
            <a:fld id="{2FF35B40-4962-4258-86DB-FE2549F3A402}" type="datetime1">
              <a:rPr lang="it-IT" smtClean="0"/>
              <a:t>12/12/2025</a:t>
            </a:fld>
            <a:endParaRPr lang="it-IT"/>
          </a:p>
        </p:txBody>
      </p:sp>
      <p:sp>
        <p:nvSpPr>
          <p:cNvPr id="6" name="Segnaposto piè di pagina 5"/>
          <p:cNvSpPr>
            <a:spLocks noGrp="1"/>
          </p:cNvSpPr>
          <p:nvPr>
            <p:ph type="ftr" sz="quarter" idx="11"/>
          </p:nvPr>
        </p:nvSpPr>
        <p:spPr/>
        <p:txBody>
          <a:bodyPr/>
          <a:lstStyle/>
          <a:p>
            <a:r>
              <a:rPr lang="it-IT" smtClean="0"/>
              <a:t>Financial Report | Berkshire Hathaway</a:t>
            </a:r>
            <a:endParaRPr lang="it-IT"/>
          </a:p>
        </p:txBody>
      </p:sp>
      <p:sp>
        <p:nvSpPr>
          <p:cNvPr id="7" name="Segnaposto numero diapositiva 6"/>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3471402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Segnaposto data 4"/>
          <p:cNvSpPr>
            <a:spLocks noGrp="1"/>
          </p:cNvSpPr>
          <p:nvPr>
            <p:ph type="dt" sz="half" idx="10"/>
          </p:nvPr>
        </p:nvSpPr>
        <p:spPr/>
        <p:txBody>
          <a:bodyPr/>
          <a:lstStyle/>
          <a:p>
            <a:fld id="{0B943C58-DC3C-42F7-AC0A-02E5EA5A523D}" type="datetime1">
              <a:rPr lang="it-IT" smtClean="0"/>
              <a:t>12/12/2025</a:t>
            </a:fld>
            <a:endParaRPr lang="it-IT"/>
          </a:p>
        </p:txBody>
      </p:sp>
      <p:sp>
        <p:nvSpPr>
          <p:cNvPr id="6" name="Segnaposto piè di pagina 5"/>
          <p:cNvSpPr>
            <a:spLocks noGrp="1"/>
          </p:cNvSpPr>
          <p:nvPr>
            <p:ph type="ftr" sz="quarter" idx="11"/>
          </p:nvPr>
        </p:nvSpPr>
        <p:spPr/>
        <p:txBody>
          <a:bodyPr/>
          <a:lstStyle/>
          <a:p>
            <a:r>
              <a:rPr lang="it-IT" smtClean="0"/>
              <a:t>Financial Report | Berkshire Hathaway</a:t>
            </a:r>
            <a:endParaRPr lang="it-IT"/>
          </a:p>
        </p:txBody>
      </p:sp>
      <p:sp>
        <p:nvSpPr>
          <p:cNvPr id="7" name="Segnaposto numero diapositiva 6"/>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3628687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25CD0D0-76FE-4449-958F-54CDC200C542}" type="datetime1">
              <a:rPr lang="it-IT" smtClean="0"/>
              <a:t>12/12/2025</a:t>
            </a:fld>
            <a:endParaRPr lang="it-IT"/>
          </a:p>
        </p:txBody>
      </p:sp>
      <p:sp>
        <p:nvSpPr>
          <p:cNvPr id="5" name="Segnaposto piè di pagina 4"/>
          <p:cNvSpPr>
            <a:spLocks noGrp="1"/>
          </p:cNvSpPr>
          <p:nvPr>
            <p:ph type="ftr" sz="quarter" idx="11"/>
          </p:nvPr>
        </p:nvSpPr>
        <p:spPr/>
        <p:txBody>
          <a:bodyPr/>
          <a:lstStyle/>
          <a:p>
            <a:r>
              <a:rPr lang="it-IT" smtClean="0"/>
              <a:t>Financial Report | Berkshire Hathaway</a:t>
            </a:r>
            <a:endParaRPr lang="it-IT"/>
          </a:p>
        </p:txBody>
      </p:sp>
      <p:sp>
        <p:nvSpPr>
          <p:cNvPr id="6" name="Segnaposto numero diapositiva 5"/>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3699002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C4D6F41-AFA3-4F96-AE5D-CB73B843EF1B}" type="datetime1">
              <a:rPr lang="it-IT" smtClean="0"/>
              <a:t>12/12/2025</a:t>
            </a:fld>
            <a:endParaRPr lang="it-IT"/>
          </a:p>
        </p:txBody>
      </p:sp>
      <p:sp>
        <p:nvSpPr>
          <p:cNvPr id="5" name="Segnaposto piè di pagina 4"/>
          <p:cNvSpPr>
            <a:spLocks noGrp="1"/>
          </p:cNvSpPr>
          <p:nvPr>
            <p:ph type="ftr" sz="quarter" idx="11"/>
          </p:nvPr>
        </p:nvSpPr>
        <p:spPr/>
        <p:txBody>
          <a:bodyPr/>
          <a:lstStyle/>
          <a:p>
            <a:r>
              <a:rPr lang="it-IT" smtClean="0"/>
              <a:t>Financial Report | Berkshire Hathaway</a:t>
            </a:r>
            <a:endParaRPr lang="it-IT"/>
          </a:p>
        </p:txBody>
      </p:sp>
      <p:sp>
        <p:nvSpPr>
          <p:cNvPr id="6" name="Segnaposto numero diapositiva 5"/>
          <p:cNvSpPr>
            <a:spLocks noGrp="1"/>
          </p:cNvSpPr>
          <p:nvPr>
            <p:ph type="sldNum" sz="quarter" idx="12"/>
          </p:nvPr>
        </p:nvSpPr>
        <p:spPr/>
        <p:txBody>
          <a:bodyPr/>
          <a:lstStyle/>
          <a:p>
            <a:fld id="{9F7CB109-2702-4A25-BFA4-6AE44BDF3EDF}" type="slidenum">
              <a:rPr lang="it-IT" smtClean="0"/>
              <a:t>‹N›</a:t>
            </a:fld>
            <a:endParaRPr lang="it-IT"/>
          </a:p>
        </p:txBody>
      </p:sp>
    </p:spTree>
    <p:extLst>
      <p:ext uri="{BB962C8B-B14F-4D97-AF65-F5344CB8AC3E}">
        <p14:creationId xmlns:p14="http://schemas.microsoft.com/office/powerpoint/2010/main" val="3142648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BE3E74-57B7-4049-B748-B6AF9BADFA31}" type="datetime1">
              <a:rPr lang="it-IT" smtClean="0"/>
              <a:t>12/12/2025</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smtClean="0"/>
              <a:t>Financial Report | Berkshire Hathaway</a:t>
            </a:r>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7CB109-2702-4A25-BFA4-6AE44BDF3EDF}" type="slidenum">
              <a:rPr lang="it-IT" smtClean="0"/>
              <a:t>‹N›</a:t>
            </a:fld>
            <a:endParaRPr lang="it-IT"/>
          </a:p>
        </p:txBody>
      </p:sp>
    </p:spTree>
    <p:extLst>
      <p:ext uri="{BB962C8B-B14F-4D97-AF65-F5344CB8AC3E}">
        <p14:creationId xmlns:p14="http://schemas.microsoft.com/office/powerpoint/2010/main" val="614868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investing.com/"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tangolo 12"/>
          <p:cNvSpPr/>
          <p:nvPr/>
        </p:nvSpPr>
        <p:spPr>
          <a:xfrm>
            <a:off x="-146304" y="-82296"/>
            <a:ext cx="12499496"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2" name="Immagin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701" y="2395728"/>
            <a:ext cx="4449199" cy="4462272"/>
          </a:xfrm>
          <a:prstGeom prst="rect">
            <a:avLst/>
          </a:prstGeom>
        </p:spPr>
      </p:pic>
      <p:sp>
        <p:nvSpPr>
          <p:cNvPr id="2" name="Titolo 1"/>
          <p:cNvSpPr>
            <a:spLocks noGrp="1"/>
          </p:cNvSpPr>
          <p:nvPr>
            <p:ph type="ctrTitle"/>
          </p:nvPr>
        </p:nvSpPr>
        <p:spPr>
          <a:xfrm>
            <a:off x="1531444" y="447545"/>
            <a:ext cx="9144000" cy="2387600"/>
          </a:xfrm>
        </p:spPr>
        <p:txBody>
          <a:bodyPr>
            <a:normAutofit/>
          </a:bodyPr>
          <a:lstStyle/>
          <a:p>
            <a:r>
              <a:rPr lang="it-IT" sz="5400" dirty="0" smtClean="0">
                <a:latin typeface="Spectral"/>
              </a:rPr>
              <a:t>Advanced Time Series Analysis</a:t>
            </a:r>
            <a:endParaRPr lang="it-IT" sz="5400" dirty="0">
              <a:latin typeface="Spectral"/>
            </a:endParaRPr>
          </a:p>
        </p:txBody>
      </p:sp>
      <p:sp>
        <p:nvSpPr>
          <p:cNvPr id="3" name="Sottotitolo 2"/>
          <p:cNvSpPr>
            <a:spLocks noGrp="1"/>
          </p:cNvSpPr>
          <p:nvPr>
            <p:ph type="subTitle" idx="1"/>
          </p:nvPr>
        </p:nvSpPr>
        <p:spPr>
          <a:xfrm>
            <a:off x="1531444" y="3180460"/>
            <a:ext cx="9144000" cy="1286485"/>
          </a:xfrm>
        </p:spPr>
        <p:txBody>
          <a:bodyPr>
            <a:normAutofit/>
          </a:bodyPr>
          <a:lstStyle/>
          <a:p>
            <a:r>
              <a:rPr lang="it-IT" sz="2000" dirty="0" err="1" smtClean="0">
                <a:latin typeface="Spectral Medium" pitchFamily="2" charset="0"/>
                <a:ea typeface="Inter 28pt" panose="02000503000000020004" pitchFamily="2" charset="0"/>
              </a:rPr>
              <a:t>About</a:t>
            </a:r>
            <a:r>
              <a:rPr lang="it-IT" sz="2000" dirty="0" smtClean="0">
                <a:latin typeface="Spectral Medium" pitchFamily="2" charset="0"/>
                <a:ea typeface="Inter 28pt" panose="02000503000000020004" pitchFamily="2" charset="0"/>
              </a:rPr>
              <a:t> </a:t>
            </a:r>
            <a:r>
              <a:rPr lang="it-IT" sz="2000" dirty="0" err="1" smtClean="0">
                <a:latin typeface="Spectral Medium" pitchFamily="2" charset="0"/>
                <a:ea typeface="Inter 28pt" panose="02000503000000020004" pitchFamily="2" charset="0"/>
              </a:rPr>
              <a:t>two</a:t>
            </a:r>
            <a:r>
              <a:rPr lang="it-IT" sz="2000" dirty="0" smtClean="0">
                <a:latin typeface="Spectral Medium" pitchFamily="2" charset="0"/>
                <a:ea typeface="Inter 28pt" panose="02000503000000020004" pitchFamily="2" charset="0"/>
              </a:rPr>
              <a:t> S&amp;P500 </a:t>
            </a:r>
            <a:r>
              <a:rPr lang="it-IT" sz="2000" dirty="0" err="1" smtClean="0">
                <a:latin typeface="Spectral Medium" pitchFamily="2" charset="0"/>
                <a:ea typeface="Inter 28pt" panose="02000503000000020004" pitchFamily="2" charset="0"/>
              </a:rPr>
              <a:t>stocks</a:t>
            </a:r>
            <a:r>
              <a:rPr lang="it-IT" sz="2000" dirty="0" smtClean="0">
                <a:latin typeface="Spectral Medium" pitchFamily="2" charset="0"/>
                <a:ea typeface="Inter 28pt" panose="02000503000000020004" pitchFamily="2" charset="0"/>
              </a:rPr>
              <a:t>:</a:t>
            </a:r>
            <a:endParaRPr lang="it-IT" sz="2000" dirty="0">
              <a:latin typeface="Spectral Medium" pitchFamily="2" charset="0"/>
              <a:ea typeface="Inter 28pt" panose="02000503000000020004" pitchFamily="2" charset="0"/>
            </a:endParaRPr>
          </a:p>
        </p:txBody>
      </p:sp>
      <p:sp>
        <p:nvSpPr>
          <p:cNvPr id="6" name="Sottotitolo 2"/>
          <p:cNvSpPr txBox="1">
            <a:spLocks/>
          </p:cNvSpPr>
          <p:nvPr/>
        </p:nvSpPr>
        <p:spPr>
          <a:xfrm>
            <a:off x="-146304" y="286734"/>
            <a:ext cx="3621454" cy="7566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1800" dirty="0" smtClean="0">
                <a:latin typeface="Spectral Medium" pitchFamily="2" charset="0"/>
                <a:ea typeface="Inter 28pt" panose="02000503000000020004" pitchFamily="2" charset="0"/>
              </a:rPr>
              <a:t>Paolo </a:t>
            </a:r>
            <a:r>
              <a:rPr lang="it-IT" sz="1800" dirty="0" smtClean="0">
                <a:latin typeface="Spectral Medium" pitchFamily="2" charset="0"/>
                <a:ea typeface="Inter 28pt" panose="02000503000000020004" pitchFamily="2" charset="0"/>
              </a:rPr>
              <a:t>Rinaldi – 12/12/2025</a:t>
            </a:r>
            <a:endParaRPr lang="it-IT" sz="1800" dirty="0">
              <a:latin typeface="Spectral Medium" pitchFamily="2" charset="0"/>
              <a:ea typeface="Inter 28pt" panose="02000503000000020004" pitchFamily="2" charset="0"/>
            </a:endParaRPr>
          </a:p>
        </p:txBody>
      </p:sp>
      <p:pic>
        <p:nvPicPr>
          <p:cNvPr id="4" name="Immagine 3"/>
          <p:cNvPicPr>
            <a:picLocks noChangeAspect="1"/>
          </p:cNvPicPr>
          <p:nvPr/>
        </p:nvPicPr>
        <p:blipFill rotWithShape="1">
          <a:blip r:embed="rId3"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11" name="Immagin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3824" y="5835958"/>
            <a:ext cx="2699239" cy="509271"/>
          </a:xfrm>
          <a:prstGeom prst="rect">
            <a:avLst/>
          </a:prstGeom>
        </p:spPr>
      </p:pic>
      <p:pic>
        <p:nvPicPr>
          <p:cNvPr id="14" name="Immagin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1322" y="4287116"/>
            <a:ext cx="2526323" cy="1115793"/>
          </a:xfrm>
          <a:prstGeom prst="rect">
            <a:avLst/>
          </a:prstGeom>
        </p:spPr>
      </p:pic>
      <p:pic>
        <p:nvPicPr>
          <p:cNvPr id="15" name="Immagine 14"/>
          <p:cNvPicPr>
            <a:picLocks noChangeAspect="1"/>
          </p:cNvPicPr>
          <p:nvPr/>
        </p:nvPicPr>
        <p:blipFill>
          <a:blip r:embed="rId6"/>
          <a:stretch>
            <a:fillRect/>
          </a:stretch>
        </p:blipFill>
        <p:spPr>
          <a:xfrm>
            <a:off x="9076353" y="5677206"/>
            <a:ext cx="826774" cy="826774"/>
          </a:xfrm>
          <a:prstGeom prst="rect">
            <a:avLst/>
          </a:prstGeom>
        </p:spPr>
      </p:pic>
      <p:pic>
        <p:nvPicPr>
          <p:cNvPr id="16" name="Immagine 15"/>
          <p:cNvPicPr>
            <a:picLocks noChangeAspect="1"/>
          </p:cNvPicPr>
          <p:nvPr/>
        </p:nvPicPr>
        <p:blipFill>
          <a:blip r:embed="rId7"/>
          <a:stretch>
            <a:fillRect/>
          </a:stretch>
        </p:blipFill>
        <p:spPr>
          <a:xfrm>
            <a:off x="8959419" y="4288038"/>
            <a:ext cx="943708" cy="943708"/>
          </a:xfrm>
          <a:prstGeom prst="rect">
            <a:avLst/>
          </a:prstGeom>
        </p:spPr>
      </p:pic>
      <p:pic>
        <p:nvPicPr>
          <p:cNvPr id="17" name="Immagine 16"/>
          <p:cNvPicPr>
            <a:picLocks noChangeAspect="1"/>
          </p:cNvPicPr>
          <p:nvPr/>
        </p:nvPicPr>
        <p:blipFill>
          <a:blip r:embed="rId8"/>
          <a:stretch>
            <a:fillRect/>
          </a:stretch>
        </p:blipFill>
        <p:spPr>
          <a:xfrm rot="10800000">
            <a:off x="7914884" y="5772766"/>
            <a:ext cx="635654" cy="635654"/>
          </a:xfrm>
          <a:prstGeom prst="rect">
            <a:avLst/>
          </a:prstGeom>
        </p:spPr>
      </p:pic>
      <p:pic>
        <p:nvPicPr>
          <p:cNvPr id="18" name="Immagine 17"/>
          <p:cNvPicPr>
            <a:picLocks noChangeAspect="1"/>
          </p:cNvPicPr>
          <p:nvPr/>
        </p:nvPicPr>
        <p:blipFill>
          <a:blip r:embed="rId8"/>
          <a:stretch>
            <a:fillRect/>
          </a:stretch>
        </p:blipFill>
        <p:spPr>
          <a:xfrm rot="10800000">
            <a:off x="7919196" y="4436421"/>
            <a:ext cx="635654" cy="635654"/>
          </a:xfrm>
          <a:prstGeom prst="rect">
            <a:avLst/>
          </a:prstGeom>
        </p:spPr>
      </p:pic>
    </p:spTree>
    <p:extLst>
      <p:ext uri="{BB962C8B-B14F-4D97-AF65-F5344CB8AC3E}">
        <p14:creationId xmlns:p14="http://schemas.microsoft.com/office/powerpoint/2010/main" val="3346975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dirty="0" smtClean="0">
                <a:latin typeface="Spectral Medium" pitchFamily="2" charset="0"/>
              </a:rPr>
              <a:t>Time series and source of data</a:t>
            </a:r>
            <a:endParaRPr lang="it-IT" sz="40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2</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sp>
        <p:nvSpPr>
          <p:cNvPr id="8" name="Sottotitolo 2"/>
          <p:cNvSpPr txBox="1">
            <a:spLocks/>
          </p:cNvSpPr>
          <p:nvPr/>
        </p:nvSpPr>
        <p:spPr>
          <a:xfrm>
            <a:off x="838199" y="1785966"/>
            <a:ext cx="9530666"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smtClean="0">
                <a:latin typeface="Spectral Medium" pitchFamily="2" charset="0"/>
                <a:ea typeface="Inter 28pt" panose="02000503000000020004" pitchFamily="2" charset="0"/>
              </a:rPr>
              <a:t>Time series: daily prices (at close), from 01/01/2015 to </a:t>
            </a:r>
            <a:r>
              <a:rPr lang="en-GB" sz="1800" dirty="0" smtClean="0">
                <a:latin typeface="Spectral Medium" pitchFamily="2" charset="0"/>
                <a:ea typeface="Inter 28pt" panose="02000503000000020004" pitchFamily="2" charset="0"/>
              </a:rPr>
              <a:t>31/10/2025</a:t>
            </a:r>
            <a:endParaRPr lang="en-GB" sz="1800" dirty="0" smtClean="0">
              <a:latin typeface="Spectral Medium" pitchFamily="2" charset="0"/>
              <a:ea typeface="Inter 28pt" panose="02000503000000020004" pitchFamily="2" charset="0"/>
            </a:endParaRPr>
          </a:p>
          <a:p>
            <a:pPr marL="0" indent="0">
              <a:buNone/>
            </a:pPr>
            <a:r>
              <a:rPr lang="en-GB" sz="1800" dirty="0" smtClean="0">
                <a:latin typeface="Spectral Medium" pitchFamily="2" charset="0"/>
                <a:ea typeface="Inter 28pt" panose="02000503000000020004" pitchFamily="2" charset="0"/>
              </a:rPr>
              <a:t>Number of observations: 2.724</a:t>
            </a:r>
          </a:p>
          <a:p>
            <a:pPr marL="0" indent="0">
              <a:buNone/>
            </a:pPr>
            <a:r>
              <a:rPr lang="en-GB" sz="1800" dirty="0" smtClean="0">
                <a:latin typeface="Spectral Medium" pitchFamily="2" charset="0"/>
                <a:ea typeface="Inter 28pt" panose="02000503000000020004" pitchFamily="2" charset="0"/>
              </a:rPr>
              <a:t>Source of data: downloaded from </a:t>
            </a:r>
            <a:r>
              <a:rPr lang="en-GB" sz="1800" dirty="0" smtClean="0">
                <a:solidFill>
                  <a:schemeClr val="accent2"/>
                </a:solidFill>
                <a:latin typeface="Spectral Medium" pitchFamily="2" charset="0"/>
                <a:ea typeface="Inter 28pt" panose="02000503000000020004" pitchFamily="2" charset="0"/>
                <a:hlinkClick r:id="rId3"/>
              </a:rPr>
              <a:t>investing.com</a:t>
            </a:r>
            <a:r>
              <a:rPr lang="en-GB" sz="1800" dirty="0" smtClean="0">
                <a:latin typeface="Spectral Medium" pitchFamily="2" charset="0"/>
                <a:ea typeface="Inter 28pt" panose="02000503000000020004" pitchFamily="2" charset="0"/>
              </a:rPr>
              <a:t>, the format is .csv data</a:t>
            </a:r>
          </a:p>
          <a:p>
            <a:pPr marL="0" indent="0">
              <a:buNone/>
            </a:pPr>
            <a:endParaRPr lang="en-GB" sz="1800" dirty="0">
              <a:latin typeface="Spectral Medium" pitchFamily="2" charset="0"/>
              <a:ea typeface="Inter 28pt" panose="02000503000000020004" pitchFamily="2" charset="0"/>
            </a:endParaRPr>
          </a:p>
          <a:p>
            <a:pPr marL="0" indent="0">
              <a:buNone/>
            </a:pPr>
            <a:r>
              <a:rPr lang="en-GB" sz="1600" dirty="0" smtClean="0">
                <a:solidFill>
                  <a:srgbClr val="3099DC"/>
                </a:solidFill>
                <a:latin typeface="Spectral Medium" pitchFamily="2" charset="0"/>
                <a:ea typeface="Inter 28pt" panose="02000503000000020004" pitchFamily="2" charset="0"/>
              </a:rPr>
              <a:t>Why these two stocks? </a:t>
            </a:r>
            <a:r>
              <a:rPr lang="en-GB" sz="1600" dirty="0" smtClean="0">
                <a:latin typeface="Spectral Medium" pitchFamily="2" charset="0"/>
                <a:ea typeface="Inter 28pt" panose="02000503000000020004" pitchFamily="2" charset="0"/>
              </a:rPr>
              <a:t>In order to highlight potential price-based relationships between one of the most sustainable (NEE, representing the renewable energy sector), and one of the most polluting (XOM, representing the </a:t>
            </a:r>
            <a:r>
              <a:rPr lang="en-GB" sz="1600" dirty="0" err="1" smtClean="0">
                <a:latin typeface="Spectral Medium" pitchFamily="2" charset="0"/>
                <a:ea typeface="Inter 28pt" panose="02000503000000020004" pitchFamily="2" charset="0"/>
              </a:rPr>
              <a:t>oil&amp;gas</a:t>
            </a:r>
            <a:r>
              <a:rPr lang="en-GB" sz="1600" dirty="0">
                <a:latin typeface="Spectral Medium" pitchFamily="2" charset="0"/>
                <a:ea typeface="Inter 28pt" panose="02000503000000020004" pitchFamily="2" charset="0"/>
              </a:rPr>
              <a:t> </a:t>
            </a:r>
            <a:r>
              <a:rPr lang="en-GB" sz="1600" dirty="0" smtClean="0">
                <a:latin typeface="Spectral Medium" pitchFamily="2" charset="0"/>
                <a:ea typeface="Inter 28pt" panose="02000503000000020004" pitchFamily="2" charset="0"/>
              </a:rPr>
              <a:t>sector) companies listed </a:t>
            </a:r>
            <a:r>
              <a:rPr lang="en-GB" sz="1600" dirty="0">
                <a:latin typeface="Spectral Medium" pitchFamily="2" charset="0"/>
                <a:ea typeface="Inter 28pt" panose="02000503000000020004" pitchFamily="2" charset="0"/>
              </a:rPr>
              <a:t>o</a:t>
            </a:r>
            <a:r>
              <a:rPr lang="en-GB" sz="1600" dirty="0" smtClean="0">
                <a:latin typeface="Spectral Medium" pitchFamily="2" charset="0"/>
                <a:ea typeface="Inter 28pt" panose="02000503000000020004" pitchFamily="2" charset="0"/>
              </a:rPr>
              <a:t>n S&amp;P500.</a:t>
            </a:r>
          </a:p>
          <a:p>
            <a:pPr marL="0" indent="0">
              <a:buNone/>
            </a:pPr>
            <a:r>
              <a:rPr lang="en-GB" sz="1600" dirty="0" smtClean="0">
                <a:solidFill>
                  <a:srgbClr val="3099DC"/>
                </a:solidFill>
                <a:latin typeface="Spectral Medium" pitchFamily="2" charset="0"/>
                <a:ea typeface="Inter 28pt" panose="02000503000000020004" pitchFamily="2" charset="0"/>
              </a:rPr>
              <a:t>Why this specific time arc? </a:t>
            </a:r>
            <a:r>
              <a:rPr lang="en-GB" sz="1600" dirty="0" smtClean="0">
                <a:latin typeface="Spectral Medium" pitchFamily="2" charset="0"/>
                <a:ea typeface="Inter 28pt" panose="02000503000000020004" pitchFamily="2" charset="0"/>
              </a:rPr>
              <a:t>I decided to start from 2015 because it is the year from which many sustainable-finance policies took part in the USA, such as the incentive to introduce sustainable stocks (considering ESG factors) in widely used pension funds, the signing of the Paris Agreement and the creation of the Task Force on Climate-related Financial Disclosures.</a:t>
            </a:r>
          </a:p>
          <a:p>
            <a:pPr marL="0" indent="0">
              <a:buNone/>
            </a:pPr>
            <a:r>
              <a:rPr lang="en-GB" sz="1600" dirty="0">
                <a:solidFill>
                  <a:srgbClr val="3099DC"/>
                </a:solidFill>
                <a:latin typeface="Spectral Medium" pitchFamily="2" charset="0"/>
                <a:ea typeface="Inter 28pt" panose="02000503000000020004" pitchFamily="2" charset="0"/>
              </a:rPr>
              <a:t>Why daily prices</a:t>
            </a:r>
            <a:r>
              <a:rPr lang="en-GB" sz="1600" dirty="0" smtClean="0">
                <a:solidFill>
                  <a:srgbClr val="3099DC"/>
                </a:solidFill>
                <a:latin typeface="Spectral Medium" pitchFamily="2" charset="0"/>
                <a:ea typeface="Inter 28pt" panose="02000503000000020004" pitchFamily="2" charset="0"/>
              </a:rPr>
              <a:t>? </a:t>
            </a:r>
            <a:r>
              <a:rPr lang="en-GB" sz="1600" dirty="0" smtClean="0">
                <a:latin typeface="Spectral Medium" pitchFamily="2" charset="0"/>
                <a:ea typeface="Inter 28pt" panose="02000503000000020004" pitchFamily="2" charset="0"/>
              </a:rPr>
              <a:t>At first I used weekly prices, as suggested by Professor </a:t>
            </a:r>
            <a:r>
              <a:rPr lang="en-GB" sz="1600" dirty="0" err="1" smtClean="0">
                <a:latin typeface="Spectral Medium" pitchFamily="2" charset="0"/>
                <a:ea typeface="Inter 28pt" panose="02000503000000020004" pitchFamily="2" charset="0"/>
              </a:rPr>
              <a:t>Croux</a:t>
            </a:r>
            <a:r>
              <a:rPr lang="en-GB" sz="1600" dirty="0" smtClean="0">
                <a:latin typeface="Spectral Medium" pitchFamily="2" charset="0"/>
                <a:ea typeface="Inter 28pt" panose="02000503000000020004" pitchFamily="2" charset="0"/>
              </a:rPr>
              <a:t> when asked. But then, in order to have a conspicuous number of observations within this time arc to work on the variance, I necessarily had to switch and use daily prices.</a:t>
            </a:r>
            <a:endParaRPr lang="en-GB" sz="1800" dirty="0" smtClean="0">
              <a:latin typeface="Spectral Medium" pitchFamily="2" charset="0"/>
              <a:ea typeface="Inter 28pt" panose="02000503000000020004" pitchFamily="2" charset="0"/>
            </a:endParaRPr>
          </a:p>
          <a:p>
            <a:pPr marL="0" indent="0">
              <a:buNone/>
            </a:pPr>
            <a:endParaRPr lang="it-IT" sz="1800" dirty="0">
              <a:latin typeface="Spectral Medium" pitchFamily="2" charset="0"/>
              <a:ea typeface="Inter 28pt" panose="02000503000000020004" pitchFamily="2" charset="0"/>
            </a:endParaRPr>
          </a:p>
        </p:txBody>
      </p:sp>
    </p:spTree>
    <p:extLst>
      <p:ext uri="{BB962C8B-B14F-4D97-AF65-F5344CB8AC3E}">
        <p14:creationId xmlns:p14="http://schemas.microsoft.com/office/powerpoint/2010/main" val="3011959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Univariate</a:t>
            </a:r>
            <a:r>
              <a:rPr lang="en-GB" sz="4000" dirty="0" smtClean="0">
                <a:latin typeface="Spectral Medium" pitchFamily="2" charset="0"/>
              </a:rPr>
              <a:t> analysis on NEE:</a:t>
            </a:r>
            <a:br>
              <a:rPr lang="en-GB" sz="4000" dirty="0" smtClean="0">
                <a:latin typeface="Spectral Medium" pitchFamily="2" charset="0"/>
              </a:rPr>
            </a:br>
            <a:r>
              <a:rPr lang="en-GB" sz="2800" dirty="0" smtClean="0">
                <a:latin typeface="Spectral Medium" pitchFamily="2" charset="0"/>
              </a:rPr>
              <a:t>Identification and Estimation</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3</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sp>
        <p:nvSpPr>
          <p:cNvPr id="9" name="Sottotitolo 2"/>
          <p:cNvSpPr txBox="1">
            <a:spLocks/>
          </p:cNvSpPr>
          <p:nvPr/>
        </p:nvSpPr>
        <p:spPr>
          <a:xfrm>
            <a:off x="838199" y="1785966"/>
            <a:ext cx="9530665" cy="18579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The price series (</a:t>
            </a:r>
            <a:r>
              <a:rPr lang="en-GB" sz="1600" dirty="0" err="1" smtClean="0">
                <a:latin typeface="Spectral Medium" pitchFamily="2" charset="0"/>
                <a:ea typeface="Inter 28pt" panose="02000503000000020004" pitchFamily="2" charset="0"/>
              </a:rPr>
              <a:t>Yt</a:t>
            </a:r>
            <a:r>
              <a:rPr lang="en-GB" sz="1600" dirty="0" smtClean="0">
                <a:latin typeface="Spectral Medium" pitchFamily="2" charset="0"/>
                <a:ea typeface="Inter 28pt" panose="02000503000000020004" pitchFamily="2" charset="0"/>
              </a:rPr>
              <a:t>) exhibits a </a:t>
            </a:r>
            <a:r>
              <a:rPr lang="en-GB" sz="1600" b="1" dirty="0" smtClean="0">
                <a:latin typeface="Spectral Medium" pitchFamily="2" charset="0"/>
                <a:ea typeface="Inter 28pt" panose="02000503000000020004" pitchFamily="2" charset="0"/>
              </a:rPr>
              <a:t>clear stochastic trend </a:t>
            </a:r>
            <a:r>
              <a:rPr lang="en-GB" sz="1600" dirty="0" smtClean="0">
                <a:latin typeface="Spectral Medium" pitchFamily="2" charset="0"/>
                <a:ea typeface="Inter 28pt" panose="02000503000000020004" pitchFamily="2" charset="0"/>
              </a:rPr>
              <a:t>(we do not reject the null hypothesis of a unit root), confirming that prices follow a random walk.</a:t>
            </a:r>
          </a:p>
          <a:p>
            <a:pPr marL="0" indent="0">
              <a:buNone/>
            </a:pPr>
            <a:r>
              <a:rPr lang="en-GB" sz="1600" dirty="0" smtClean="0">
                <a:latin typeface="Spectral Medium" pitchFamily="2" charset="0"/>
                <a:ea typeface="Inter 28pt" panose="02000503000000020004" pitchFamily="2" charset="0"/>
              </a:rPr>
              <a:t>First differencing </a:t>
            </a:r>
            <a:r>
              <a:rPr lang="en-GB" sz="1600" dirty="0">
                <a:latin typeface="Spectral Medium" pitchFamily="2" charset="0"/>
                <a:ea typeface="Inter 28pt" panose="02000503000000020004" pitchFamily="2" charset="0"/>
              </a:rPr>
              <a:t>(</a:t>
            </a:r>
            <a:r>
              <a:rPr lang="it-IT" sz="1600" dirty="0">
                <a:latin typeface="Spectral Medium" pitchFamily="2" charset="0"/>
                <a:ea typeface="Inter 28pt" panose="02000503000000020004" pitchFamily="2" charset="0"/>
              </a:rPr>
              <a:t>∆</a:t>
            </a:r>
            <a:r>
              <a:rPr lang="it-IT" sz="1600" dirty="0" err="1">
                <a:latin typeface="Spectral Medium" pitchFamily="2" charset="0"/>
                <a:ea typeface="Inter 28pt" panose="02000503000000020004" pitchFamily="2" charset="0"/>
              </a:rPr>
              <a:t>Yt</a:t>
            </a:r>
            <a:r>
              <a:rPr lang="it-IT" sz="1600" dirty="0">
                <a:latin typeface="Spectral Medium" pitchFamily="2" charset="0"/>
                <a:ea typeface="Inter 28pt" panose="02000503000000020004" pitchFamily="2" charset="0"/>
              </a:rPr>
              <a:t>, the </a:t>
            </a:r>
            <a:r>
              <a:rPr lang="it-IT" sz="1600" dirty="0" err="1">
                <a:latin typeface="Spectral Medium" pitchFamily="2" charset="0"/>
                <a:ea typeface="Inter 28pt" panose="02000503000000020004" pitchFamily="2" charset="0"/>
              </a:rPr>
              <a:t>returns</a:t>
            </a:r>
            <a:r>
              <a:rPr lang="it-IT" sz="1600" dirty="0">
                <a:latin typeface="Spectral Medium" pitchFamily="2" charset="0"/>
                <a:ea typeface="Inter 28pt" panose="02000503000000020004" pitchFamily="2" charset="0"/>
              </a:rPr>
              <a:t>) </a:t>
            </a:r>
            <a:r>
              <a:rPr lang="it-IT" sz="1600" dirty="0" err="1">
                <a:latin typeface="Spectral Medium" pitchFamily="2" charset="0"/>
                <a:ea typeface="Inter 28pt" panose="02000503000000020004" pitchFamily="2" charset="0"/>
              </a:rPr>
              <a:t>is</a:t>
            </a:r>
            <a:r>
              <a:rPr lang="it-IT" sz="1600" dirty="0">
                <a:latin typeface="Spectral Medium" pitchFamily="2" charset="0"/>
                <a:ea typeface="Inter 28pt" panose="02000503000000020004" pitchFamily="2" charset="0"/>
              </a:rPr>
              <a:t> </a:t>
            </a:r>
            <a:r>
              <a:rPr lang="it-IT" sz="1600" dirty="0" err="1">
                <a:latin typeface="Spectral Medium" pitchFamily="2" charset="0"/>
                <a:ea typeface="Inter 28pt" panose="02000503000000020004" pitchFamily="2" charset="0"/>
              </a:rPr>
              <a:t>sufficient</a:t>
            </a:r>
            <a:r>
              <a:rPr lang="it-IT" sz="1600" dirty="0">
                <a:latin typeface="Spectral Medium" pitchFamily="2" charset="0"/>
                <a:ea typeface="Inter 28pt" panose="02000503000000020004" pitchFamily="2" charset="0"/>
              </a:rPr>
              <a:t> to </a:t>
            </a:r>
            <a:r>
              <a:rPr lang="it-IT" sz="1600" dirty="0" err="1">
                <a:latin typeface="Spectral Medium" pitchFamily="2" charset="0"/>
                <a:ea typeface="Inter 28pt" panose="02000503000000020004" pitchFamily="2" charset="0"/>
              </a:rPr>
              <a:t>achieve</a:t>
            </a:r>
            <a:r>
              <a:rPr lang="it-IT" sz="1600" dirty="0">
                <a:latin typeface="Spectral Medium" pitchFamily="2" charset="0"/>
                <a:ea typeface="Inter 28pt" panose="02000503000000020004" pitchFamily="2" charset="0"/>
              </a:rPr>
              <a:t> </a:t>
            </a:r>
            <a:r>
              <a:rPr lang="it-IT" sz="1600" dirty="0" err="1" smtClean="0">
                <a:latin typeface="Spectral Medium" pitchFamily="2" charset="0"/>
                <a:ea typeface="Inter 28pt" panose="02000503000000020004" pitchFamily="2" charset="0"/>
              </a:rPr>
              <a:t>stationarity</a:t>
            </a:r>
            <a:r>
              <a:rPr lang="it-IT" sz="1600" dirty="0" smtClean="0">
                <a:latin typeface="Spectral Medium" pitchFamily="2" charset="0"/>
                <a:ea typeface="Inter 28pt" panose="02000503000000020004" pitchFamily="2" charset="0"/>
              </a:rPr>
              <a:t> (the </a:t>
            </a:r>
            <a:r>
              <a:rPr lang="it-IT" sz="1600" dirty="0" err="1" smtClean="0">
                <a:latin typeface="Spectral Medium" pitchFamily="2" charset="0"/>
                <a:ea typeface="Inter 28pt" panose="02000503000000020004" pitchFamily="2" charset="0"/>
              </a:rPr>
              <a:t>price</a:t>
            </a:r>
            <a:r>
              <a:rPr lang="it-IT" sz="1600" dirty="0" smtClean="0">
                <a:latin typeface="Spectral Medium" pitchFamily="2" charset="0"/>
                <a:ea typeface="Inter 28pt" panose="02000503000000020004" pitchFamily="2" charset="0"/>
              </a:rPr>
              <a:t> </a:t>
            </a:r>
            <a:r>
              <a:rPr lang="it-IT" sz="1600" dirty="0" err="1" smtClean="0">
                <a:latin typeface="Spectral Medium" pitchFamily="2" charset="0"/>
                <a:ea typeface="Inter 28pt" panose="02000503000000020004" pitchFamily="2" charset="0"/>
              </a:rPr>
              <a:t>series</a:t>
            </a:r>
            <a:r>
              <a:rPr lang="it-IT" sz="1600" dirty="0" smtClean="0">
                <a:latin typeface="Spectral Medium" pitchFamily="2" charset="0"/>
                <a:ea typeface="Inter 28pt" panose="02000503000000020004" pitchFamily="2" charset="0"/>
              </a:rPr>
              <a:t> </a:t>
            </a:r>
            <a:r>
              <a:rPr lang="it-IT" sz="1600" dirty="0" err="1" smtClean="0">
                <a:latin typeface="Spectral Medium" pitchFamily="2" charset="0"/>
                <a:ea typeface="Inter 28pt" panose="02000503000000020004" pitchFamily="2" charset="0"/>
              </a:rPr>
              <a:t>is</a:t>
            </a:r>
            <a:r>
              <a:rPr lang="it-IT" sz="1600" dirty="0" smtClean="0">
                <a:latin typeface="Spectral Medium" pitchFamily="2" charset="0"/>
                <a:ea typeface="Inter 28pt" panose="02000503000000020004" pitchFamily="2" charset="0"/>
              </a:rPr>
              <a:t> </a:t>
            </a:r>
            <a:r>
              <a:rPr lang="it-IT" sz="1600" dirty="0" err="1" smtClean="0">
                <a:latin typeface="Spectral Medium" pitchFamily="2" charset="0"/>
                <a:ea typeface="Inter 28pt" panose="02000503000000020004" pitchFamily="2" charset="0"/>
              </a:rPr>
              <a:t>integrated</a:t>
            </a:r>
            <a:r>
              <a:rPr lang="it-IT" sz="1600" dirty="0" smtClean="0">
                <a:latin typeface="Spectral Medium" pitchFamily="2" charset="0"/>
                <a:ea typeface="Inter 28pt" panose="02000503000000020004" pitchFamily="2" charset="0"/>
              </a:rPr>
              <a:t> of </a:t>
            </a:r>
            <a:r>
              <a:rPr lang="it-IT" sz="1600" dirty="0" err="1" smtClean="0">
                <a:latin typeface="Spectral Medium" pitchFamily="2" charset="0"/>
                <a:ea typeface="Inter 28pt" panose="02000503000000020004" pitchFamily="2" charset="0"/>
              </a:rPr>
              <a:t>order</a:t>
            </a:r>
            <a:r>
              <a:rPr lang="it-IT" sz="1600" dirty="0" smtClean="0">
                <a:latin typeface="Spectral Medium" pitchFamily="2" charset="0"/>
                <a:ea typeface="Inter 28pt" panose="02000503000000020004" pitchFamily="2" charset="0"/>
              </a:rPr>
              <a:t> </a:t>
            </a:r>
            <a:r>
              <a:rPr lang="it-IT" sz="1600" dirty="0" err="1" smtClean="0">
                <a:latin typeface="Spectral Medium" pitchFamily="2" charset="0"/>
                <a:ea typeface="Inter 28pt" panose="02000503000000020004" pitchFamily="2" charset="0"/>
              </a:rPr>
              <a:t>one</a:t>
            </a:r>
            <a:r>
              <a:rPr lang="it-IT" sz="1600" dirty="0" smtClean="0">
                <a:latin typeface="Spectral Medium" pitchFamily="2" charset="0"/>
                <a:ea typeface="Inter 28pt" panose="02000503000000020004" pitchFamily="2" charset="0"/>
              </a:rPr>
              <a:t>, </a:t>
            </a:r>
            <a:r>
              <a:rPr lang="it-IT" sz="1600" b="1" dirty="0" smtClean="0">
                <a:latin typeface="Spectral Medium" pitchFamily="2" charset="0"/>
                <a:ea typeface="Inter 28pt" panose="02000503000000020004" pitchFamily="2" charset="0"/>
              </a:rPr>
              <a:t>I(1)</a:t>
            </a:r>
            <a:r>
              <a:rPr lang="it-IT" sz="1600" dirty="0" smtClean="0">
                <a:latin typeface="Spectral Medium" pitchFamily="2" charset="0"/>
                <a:ea typeface="Inter 28pt" panose="02000503000000020004" pitchFamily="2" charset="0"/>
              </a:rPr>
              <a:t>), </a:t>
            </a:r>
            <a:r>
              <a:rPr lang="it-IT" sz="1600" dirty="0" err="1">
                <a:latin typeface="Spectral Medium" pitchFamily="2" charset="0"/>
                <a:ea typeface="Inter 28pt" panose="02000503000000020004" pitchFamily="2" charset="0"/>
              </a:rPr>
              <a:t>allowing</a:t>
            </a:r>
            <a:r>
              <a:rPr lang="it-IT" sz="1600" dirty="0">
                <a:latin typeface="Spectral Medium" pitchFamily="2" charset="0"/>
                <a:ea typeface="Inter 28pt" panose="02000503000000020004" pitchFamily="2" charset="0"/>
              </a:rPr>
              <a:t> for ARMA and GARCH </a:t>
            </a:r>
            <a:r>
              <a:rPr lang="it-IT" sz="1600" dirty="0" err="1">
                <a:latin typeface="Spectral Medium" pitchFamily="2" charset="0"/>
                <a:ea typeface="Inter 28pt" panose="02000503000000020004" pitchFamily="2" charset="0"/>
              </a:rPr>
              <a:t>modeling</a:t>
            </a:r>
            <a:r>
              <a:rPr lang="it-IT" sz="1600" dirty="0">
                <a:latin typeface="Spectral Medium" pitchFamily="2" charset="0"/>
                <a:ea typeface="Inter 28pt" panose="02000503000000020004" pitchFamily="2" charset="0"/>
              </a:rPr>
              <a:t>. </a:t>
            </a:r>
            <a:endParaRPr lang="it-IT" sz="1600" dirty="0" smtClean="0">
              <a:latin typeface="Spectral Medium" pitchFamily="2" charset="0"/>
              <a:ea typeface="Inter 28pt" panose="02000503000000020004" pitchFamily="2" charset="0"/>
            </a:endParaRPr>
          </a:p>
          <a:p>
            <a:pPr marL="0" indent="0">
              <a:buNone/>
            </a:pPr>
            <a:r>
              <a:rPr lang="it-IT" sz="1600" dirty="0" smtClean="0">
                <a:latin typeface="Spectral Medium" pitchFamily="2" charset="0"/>
                <a:ea typeface="Inter 28pt" panose="02000503000000020004" pitchFamily="2" charset="0"/>
              </a:rPr>
              <a:t>The </a:t>
            </a:r>
            <a:r>
              <a:rPr lang="it-IT" sz="1600" dirty="0" err="1">
                <a:latin typeface="Spectral Medium" pitchFamily="2" charset="0"/>
                <a:ea typeface="Inter 28pt" panose="02000503000000020004" pitchFamily="2" charset="0"/>
              </a:rPr>
              <a:t>validity</a:t>
            </a:r>
            <a:r>
              <a:rPr lang="it-IT" sz="1600" dirty="0">
                <a:latin typeface="Spectral Medium" pitchFamily="2" charset="0"/>
                <a:ea typeface="Inter 28pt" panose="02000503000000020004" pitchFamily="2" charset="0"/>
              </a:rPr>
              <a:t> of </a:t>
            </a:r>
            <a:r>
              <a:rPr lang="it-IT" sz="1600" dirty="0" err="1">
                <a:latin typeface="Spectral Medium" pitchFamily="2" charset="0"/>
                <a:ea typeface="Inter 28pt" panose="02000503000000020004" pitchFamily="2" charset="0"/>
              </a:rPr>
              <a:t>this</a:t>
            </a:r>
            <a:r>
              <a:rPr lang="it-IT" sz="1600" dirty="0">
                <a:latin typeface="Spectral Medium" pitchFamily="2" charset="0"/>
                <a:ea typeface="Inter 28pt" panose="02000503000000020004" pitchFamily="2" charset="0"/>
              </a:rPr>
              <a:t> </a:t>
            </a:r>
            <a:r>
              <a:rPr lang="it-IT" sz="1600" dirty="0" err="1">
                <a:latin typeface="Spectral Medium" pitchFamily="2" charset="0"/>
                <a:ea typeface="Inter 28pt" panose="02000503000000020004" pitchFamily="2" charset="0"/>
              </a:rPr>
              <a:t>transformation</a:t>
            </a:r>
            <a:r>
              <a:rPr lang="it-IT" sz="1600" dirty="0">
                <a:latin typeface="Spectral Medium" pitchFamily="2" charset="0"/>
                <a:ea typeface="Inter 28pt" panose="02000503000000020004" pitchFamily="2" charset="0"/>
              </a:rPr>
              <a:t> </a:t>
            </a:r>
            <a:r>
              <a:rPr lang="it-IT" sz="1600" dirty="0" err="1">
                <a:latin typeface="Spectral Medium" pitchFamily="2" charset="0"/>
                <a:ea typeface="Inter 28pt" panose="02000503000000020004" pitchFamily="2" charset="0"/>
              </a:rPr>
              <a:t>is</a:t>
            </a:r>
            <a:r>
              <a:rPr lang="it-IT" sz="1600" dirty="0">
                <a:latin typeface="Spectral Medium" pitchFamily="2" charset="0"/>
                <a:ea typeface="Inter 28pt" panose="02000503000000020004" pitchFamily="2" charset="0"/>
              </a:rPr>
              <a:t> </a:t>
            </a:r>
            <a:r>
              <a:rPr lang="it-IT" sz="1600" dirty="0" err="1">
                <a:latin typeface="Spectral Medium" pitchFamily="2" charset="0"/>
                <a:ea typeface="Inter 28pt" panose="02000503000000020004" pitchFamily="2" charset="0"/>
              </a:rPr>
              <a:t>confirmed</a:t>
            </a:r>
            <a:r>
              <a:rPr lang="it-IT" sz="1600" dirty="0">
                <a:latin typeface="Spectral Medium" pitchFamily="2" charset="0"/>
                <a:ea typeface="Inter 28pt" panose="02000503000000020004" pitchFamily="2" charset="0"/>
              </a:rPr>
              <a:t> by the </a:t>
            </a:r>
            <a:r>
              <a:rPr lang="it-IT" sz="1600" b="1" dirty="0" err="1">
                <a:latin typeface="Spectral Medium" pitchFamily="2" charset="0"/>
                <a:ea typeface="Inter 28pt" panose="02000503000000020004" pitchFamily="2" charset="0"/>
              </a:rPr>
              <a:t>highly</a:t>
            </a:r>
            <a:r>
              <a:rPr lang="it-IT" sz="1600" b="1" dirty="0">
                <a:latin typeface="Spectral Medium" pitchFamily="2" charset="0"/>
                <a:ea typeface="Inter 28pt" panose="02000503000000020004" pitchFamily="2" charset="0"/>
              </a:rPr>
              <a:t> </a:t>
            </a:r>
            <a:r>
              <a:rPr lang="it-IT" sz="1600" b="1" dirty="0" err="1">
                <a:latin typeface="Spectral Medium" pitchFamily="2" charset="0"/>
                <a:ea typeface="Inter 28pt" panose="02000503000000020004" pitchFamily="2" charset="0"/>
              </a:rPr>
              <a:t>significant</a:t>
            </a:r>
            <a:r>
              <a:rPr lang="it-IT" sz="1600" b="1" dirty="0">
                <a:latin typeface="Spectral Medium" pitchFamily="2" charset="0"/>
                <a:ea typeface="Inter 28pt" panose="02000503000000020004" pitchFamily="2" charset="0"/>
              </a:rPr>
              <a:t> test </a:t>
            </a:r>
            <a:r>
              <a:rPr lang="it-IT" sz="1600" b="1" dirty="0" err="1">
                <a:latin typeface="Spectral Medium" pitchFamily="2" charset="0"/>
                <a:ea typeface="Inter 28pt" panose="02000503000000020004" pitchFamily="2" charset="0"/>
              </a:rPr>
              <a:t>statistic</a:t>
            </a:r>
            <a:r>
              <a:rPr lang="it-IT" sz="1600" b="1" dirty="0">
                <a:latin typeface="Spectral Medium" pitchFamily="2" charset="0"/>
                <a:ea typeface="Inter 28pt" panose="02000503000000020004" pitchFamily="2" charset="0"/>
              </a:rPr>
              <a:t> </a:t>
            </a:r>
            <a:r>
              <a:rPr lang="it-IT" sz="1600" dirty="0" smtClean="0">
                <a:latin typeface="Spectral Medium" pitchFamily="2" charset="0"/>
                <a:ea typeface="Inter 28pt" panose="02000503000000020004" pitchFamily="2" charset="0"/>
              </a:rPr>
              <a:t>(</a:t>
            </a:r>
            <a:r>
              <a:rPr lang="it-IT" sz="1600" dirty="0">
                <a:latin typeface="Spectral Medium" pitchFamily="2" charset="0"/>
                <a:ea typeface="Inter 28pt" panose="02000503000000020004" pitchFamily="2" charset="0"/>
              </a:rPr>
              <a:t>t = -53.83</a:t>
            </a:r>
            <a:r>
              <a:rPr lang="it-IT" sz="1600" dirty="0" smtClean="0">
                <a:latin typeface="Spectral Medium" pitchFamily="2" charset="0"/>
                <a:ea typeface="Inter 28pt" panose="02000503000000020004" pitchFamily="2" charset="0"/>
              </a:rPr>
              <a:t>).</a:t>
            </a:r>
            <a:endParaRPr lang="it-IT" sz="1600" dirty="0">
              <a:latin typeface="Spectral Medium" pitchFamily="2" charset="0"/>
              <a:ea typeface="Inter 28pt" panose="02000503000000020004" pitchFamily="2" charset="0"/>
            </a:endParaRPr>
          </a:p>
        </p:txBody>
      </p:sp>
      <p:graphicFrame>
        <p:nvGraphicFramePr>
          <p:cNvPr id="3" name="Tabella 2"/>
          <p:cNvGraphicFramePr>
            <a:graphicFrameLocks noGrp="1"/>
          </p:cNvGraphicFramePr>
          <p:nvPr>
            <p:extLst>
              <p:ext uri="{D42A27DB-BD31-4B8C-83A1-F6EECF244321}">
                <p14:modId xmlns:p14="http://schemas.microsoft.com/office/powerpoint/2010/main" val="207655310"/>
              </p:ext>
            </p:extLst>
          </p:nvPr>
        </p:nvGraphicFramePr>
        <p:xfrm>
          <a:off x="958362" y="4224675"/>
          <a:ext cx="9415465" cy="1112520"/>
        </p:xfrm>
        <a:graphic>
          <a:graphicData uri="http://schemas.openxmlformats.org/drawingml/2006/table">
            <a:tbl>
              <a:tblPr firstRow="1" bandRow="1">
                <a:tableStyleId>{5C22544A-7EE6-4342-B048-85BDC9FD1C3A}</a:tableStyleId>
              </a:tblPr>
              <a:tblGrid>
                <a:gridCol w="2471737">
                  <a:extLst>
                    <a:ext uri="{9D8B030D-6E8A-4147-A177-3AD203B41FA5}">
                      <a16:colId xmlns:a16="http://schemas.microsoft.com/office/drawing/2014/main" val="586536931"/>
                    </a:ext>
                  </a:extLst>
                </a:gridCol>
                <a:gridCol w="1728788">
                  <a:extLst>
                    <a:ext uri="{9D8B030D-6E8A-4147-A177-3AD203B41FA5}">
                      <a16:colId xmlns:a16="http://schemas.microsoft.com/office/drawing/2014/main" val="3795641063"/>
                    </a:ext>
                  </a:extLst>
                </a:gridCol>
                <a:gridCol w="1485900">
                  <a:extLst>
                    <a:ext uri="{9D8B030D-6E8A-4147-A177-3AD203B41FA5}">
                      <a16:colId xmlns:a16="http://schemas.microsoft.com/office/drawing/2014/main" val="4228478143"/>
                    </a:ext>
                  </a:extLst>
                </a:gridCol>
                <a:gridCol w="1071563">
                  <a:extLst>
                    <a:ext uri="{9D8B030D-6E8A-4147-A177-3AD203B41FA5}">
                      <a16:colId xmlns:a16="http://schemas.microsoft.com/office/drawing/2014/main" val="1967338966"/>
                    </a:ext>
                  </a:extLst>
                </a:gridCol>
                <a:gridCol w="2657477">
                  <a:extLst>
                    <a:ext uri="{9D8B030D-6E8A-4147-A177-3AD203B41FA5}">
                      <a16:colId xmlns:a16="http://schemas.microsoft.com/office/drawing/2014/main" val="1578137030"/>
                    </a:ext>
                  </a:extLst>
                </a:gridCol>
              </a:tblGrid>
              <a:tr h="370840">
                <a:tc>
                  <a:txBody>
                    <a:bodyPr/>
                    <a:lstStyle/>
                    <a:p>
                      <a:r>
                        <a:rPr lang="it-IT" sz="1200" dirty="0" err="1" smtClean="0">
                          <a:latin typeface="Spectral Medium" pitchFamily="2" charset="0"/>
                        </a:rPr>
                        <a:t>Transformed</a:t>
                      </a:r>
                      <a:r>
                        <a:rPr lang="it-IT" sz="1200" dirty="0" smtClean="0">
                          <a:latin typeface="Spectral Medium" pitchFamily="2" charset="0"/>
                        </a:rPr>
                        <a:t> </a:t>
                      </a:r>
                      <a:r>
                        <a:rPr lang="it-IT" sz="1200" dirty="0" err="1" smtClean="0">
                          <a:latin typeface="Spectral Medium" pitchFamily="2" charset="0"/>
                        </a:rPr>
                        <a:t>variable</a:t>
                      </a:r>
                      <a:endParaRPr lang="it-IT" sz="1200" dirty="0">
                        <a:latin typeface="Spectral Medium" pitchFamily="2" charset="0"/>
                      </a:endParaRPr>
                    </a:p>
                  </a:txBody>
                  <a:tcPr/>
                </a:tc>
                <a:tc>
                  <a:txBody>
                    <a:bodyPr/>
                    <a:lstStyle/>
                    <a:p>
                      <a:r>
                        <a:rPr lang="it-IT" sz="1200" dirty="0" smtClean="0">
                          <a:latin typeface="Spectral Medium" pitchFamily="2" charset="0"/>
                        </a:rPr>
                        <a:t>Test</a:t>
                      </a:r>
                      <a:endParaRPr lang="it-IT" sz="1200" dirty="0">
                        <a:latin typeface="Spectral Medium" pitchFamily="2" charset="0"/>
                      </a:endParaRPr>
                    </a:p>
                  </a:txBody>
                  <a:tcPr/>
                </a:tc>
                <a:tc>
                  <a:txBody>
                    <a:bodyPr/>
                    <a:lstStyle/>
                    <a:p>
                      <a:r>
                        <a:rPr lang="it-IT" sz="1200" dirty="0" smtClean="0">
                          <a:latin typeface="Spectral Medium" pitchFamily="2" charset="0"/>
                        </a:rPr>
                        <a:t>Test </a:t>
                      </a:r>
                      <a:r>
                        <a:rPr lang="it-IT" sz="1200" dirty="0" err="1" smtClean="0">
                          <a:latin typeface="Spectral Medium" pitchFamily="2" charset="0"/>
                        </a:rPr>
                        <a:t>Statistic</a:t>
                      </a:r>
                      <a:endParaRPr lang="it-IT" sz="1200" dirty="0">
                        <a:latin typeface="Spectral Medium" pitchFamily="2" charset="0"/>
                      </a:endParaRPr>
                    </a:p>
                  </a:txBody>
                  <a:tcPr/>
                </a:tc>
                <a:tc>
                  <a:txBody>
                    <a:bodyPr/>
                    <a:lstStyle/>
                    <a:p>
                      <a:r>
                        <a:rPr lang="it-IT" sz="1200" dirty="0" smtClean="0">
                          <a:latin typeface="Spectral Medium" pitchFamily="2" charset="0"/>
                        </a:rPr>
                        <a:t>P-</a:t>
                      </a:r>
                      <a:r>
                        <a:rPr lang="it-IT" sz="1200" dirty="0" err="1" smtClean="0">
                          <a:latin typeface="Spectral Medium" pitchFamily="2" charset="0"/>
                        </a:rPr>
                        <a:t>value</a:t>
                      </a:r>
                      <a:endParaRPr lang="it-IT" sz="1200" dirty="0">
                        <a:latin typeface="Spectral Medium" pitchFamily="2" charset="0"/>
                      </a:endParaRPr>
                    </a:p>
                  </a:txBody>
                  <a:tcPr/>
                </a:tc>
                <a:tc>
                  <a:txBody>
                    <a:bodyPr/>
                    <a:lstStyle/>
                    <a:p>
                      <a:r>
                        <a:rPr lang="it-IT" sz="1200" dirty="0" err="1" smtClean="0">
                          <a:latin typeface="Spectral Medium" pitchFamily="2" charset="0"/>
                        </a:rPr>
                        <a:t>Conclusion</a:t>
                      </a:r>
                      <a:endParaRPr lang="it-IT" sz="1200" dirty="0">
                        <a:latin typeface="Spectral Medium" pitchFamily="2" charset="0"/>
                      </a:endParaRPr>
                    </a:p>
                  </a:txBody>
                  <a:tcPr/>
                </a:tc>
                <a:extLst>
                  <a:ext uri="{0D108BD9-81ED-4DB2-BD59-A6C34878D82A}">
                    <a16:rowId xmlns:a16="http://schemas.microsoft.com/office/drawing/2014/main" val="3054972403"/>
                  </a:ext>
                </a:extLst>
              </a:tr>
              <a:tr h="370840">
                <a:tc>
                  <a:txBody>
                    <a:bodyPr/>
                    <a:lstStyle/>
                    <a:p>
                      <a:r>
                        <a:rPr lang="it-IT" sz="1200" dirty="0" smtClean="0">
                          <a:latin typeface="Spectral Medium" pitchFamily="2" charset="0"/>
                        </a:rPr>
                        <a:t>Log-</a:t>
                      </a:r>
                      <a:r>
                        <a:rPr lang="it-IT" sz="1200" dirty="0" err="1" smtClean="0">
                          <a:latin typeface="Spectral Medium" pitchFamily="2" charset="0"/>
                        </a:rPr>
                        <a:t>Prices</a:t>
                      </a:r>
                      <a:r>
                        <a:rPr lang="it-IT" sz="1200" dirty="0" smtClean="0">
                          <a:latin typeface="Spectral Medium" pitchFamily="2" charset="0"/>
                        </a:rPr>
                        <a:t> (</a:t>
                      </a:r>
                      <a:r>
                        <a:rPr lang="it-IT" sz="1200" dirty="0" err="1" smtClean="0">
                          <a:latin typeface="Spectral Medium" pitchFamily="2" charset="0"/>
                        </a:rPr>
                        <a:t>Yt</a:t>
                      </a:r>
                      <a:r>
                        <a:rPr lang="it-IT" sz="1200" dirty="0" smtClean="0">
                          <a:latin typeface="Spectral Medium" pitchFamily="2" charset="0"/>
                        </a:rPr>
                        <a:t>)</a:t>
                      </a:r>
                    </a:p>
                  </a:txBody>
                  <a:tcPr/>
                </a:tc>
                <a:tc>
                  <a:txBody>
                    <a:bodyPr/>
                    <a:lstStyle/>
                    <a:p>
                      <a:r>
                        <a:rPr lang="it-IT" sz="1200" dirty="0" smtClean="0">
                          <a:latin typeface="Spectral Medium" pitchFamily="2" charset="0"/>
                        </a:rPr>
                        <a:t>ADF (with trend)</a:t>
                      </a:r>
                      <a:endParaRPr lang="it-IT" sz="1200" dirty="0">
                        <a:latin typeface="Spectral Medium" pitchFamily="2" charset="0"/>
                      </a:endParaRPr>
                    </a:p>
                  </a:txBody>
                  <a:tcPr/>
                </a:tc>
                <a:tc>
                  <a:txBody>
                    <a:bodyPr/>
                    <a:lstStyle/>
                    <a:p>
                      <a:r>
                        <a:rPr lang="it-IT" sz="1200" dirty="0" smtClean="0">
                          <a:latin typeface="Spectral Medium" pitchFamily="2" charset="0"/>
                        </a:rPr>
                        <a:t>-2.07</a:t>
                      </a:r>
                      <a:endParaRPr lang="it-IT" sz="1200" dirty="0">
                        <a:latin typeface="Spectral Medium" pitchFamily="2" charset="0"/>
                      </a:endParaRPr>
                    </a:p>
                  </a:txBody>
                  <a:tcPr/>
                </a:tc>
                <a:tc>
                  <a:txBody>
                    <a:bodyPr/>
                    <a:lstStyle/>
                    <a:p>
                      <a:r>
                        <a:rPr lang="it-IT" sz="1200" dirty="0" smtClean="0">
                          <a:latin typeface="Spectral Medium" pitchFamily="2" charset="0"/>
                        </a:rPr>
                        <a:t>0.56</a:t>
                      </a:r>
                      <a:endParaRPr lang="it-IT" sz="1200" dirty="0">
                        <a:latin typeface="Spectral Medium" pitchFamily="2" charset="0"/>
                      </a:endParaRPr>
                    </a:p>
                  </a:txBody>
                  <a:tcPr/>
                </a:tc>
                <a:tc>
                  <a:txBody>
                    <a:bodyPr/>
                    <a:lstStyle/>
                    <a:p>
                      <a:r>
                        <a:rPr lang="it-IT" sz="1200" dirty="0" smtClean="0">
                          <a:latin typeface="Spectral Medium" pitchFamily="2" charset="0"/>
                        </a:rPr>
                        <a:t>Non-</a:t>
                      </a:r>
                      <a:r>
                        <a:rPr lang="it-IT" sz="1200" dirty="0" err="1" smtClean="0">
                          <a:latin typeface="Spectral Medium" pitchFamily="2" charset="0"/>
                        </a:rPr>
                        <a:t>stationary</a:t>
                      </a:r>
                      <a:r>
                        <a:rPr lang="it-IT" sz="1200" dirty="0" smtClean="0">
                          <a:latin typeface="Spectral Medium" pitchFamily="2" charset="0"/>
                        </a:rPr>
                        <a:t> (Unit </a:t>
                      </a:r>
                      <a:r>
                        <a:rPr lang="it-IT" sz="1200" dirty="0" err="1" smtClean="0">
                          <a:latin typeface="Spectral Medium" pitchFamily="2" charset="0"/>
                        </a:rPr>
                        <a:t>Root</a:t>
                      </a:r>
                      <a:r>
                        <a:rPr lang="it-IT" sz="1200" dirty="0" smtClean="0">
                          <a:latin typeface="Spectral Medium" pitchFamily="2" charset="0"/>
                        </a:rPr>
                        <a:t>)</a:t>
                      </a:r>
                      <a:endParaRPr lang="it-IT" sz="1200" dirty="0">
                        <a:latin typeface="Spectral Medium" pitchFamily="2" charset="0"/>
                      </a:endParaRPr>
                    </a:p>
                  </a:txBody>
                  <a:tcPr/>
                </a:tc>
                <a:extLst>
                  <a:ext uri="{0D108BD9-81ED-4DB2-BD59-A6C34878D82A}">
                    <a16:rowId xmlns:a16="http://schemas.microsoft.com/office/drawing/2014/main" val="447115692"/>
                  </a:ext>
                </a:extLst>
              </a:tr>
              <a:tr h="370840">
                <a:tc>
                  <a:txBody>
                    <a:bodyPr/>
                    <a:lstStyle/>
                    <a:p>
                      <a:r>
                        <a:rPr lang="it-IT" sz="1200" dirty="0" smtClean="0">
                          <a:latin typeface="Spectral Medium" pitchFamily="2" charset="0"/>
                        </a:rPr>
                        <a:t>Log-</a:t>
                      </a:r>
                      <a:r>
                        <a:rPr lang="it-IT" sz="1200" dirty="0" err="1" smtClean="0">
                          <a:latin typeface="Spectral Medium" pitchFamily="2" charset="0"/>
                        </a:rPr>
                        <a:t>Returns</a:t>
                      </a:r>
                      <a:r>
                        <a:rPr lang="it-IT" sz="1200" baseline="0" dirty="0" smtClean="0">
                          <a:latin typeface="Spectral Medium" pitchFamily="2" charset="0"/>
                        </a:rPr>
                        <a:t> </a:t>
                      </a:r>
                      <a:r>
                        <a:rPr lang="it-IT" sz="1200" baseline="0" dirty="0" smtClean="0">
                          <a:latin typeface="Spectral Medium" pitchFamily="2" charset="0"/>
                        </a:rPr>
                        <a:t>(∆</a:t>
                      </a:r>
                      <a:r>
                        <a:rPr lang="it-IT" sz="1200" baseline="0" dirty="0" err="1" smtClean="0">
                          <a:latin typeface="Spectral Medium" pitchFamily="2" charset="0"/>
                        </a:rPr>
                        <a:t>Yt</a:t>
                      </a:r>
                      <a:r>
                        <a:rPr lang="it-IT" sz="1200" baseline="0" dirty="0" smtClean="0">
                          <a:latin typeface="Spectral Medium" pitchFamily="2" charset="0"/>
                        </a:rPr>
                        <a:t>)</a:t>
                      </a:r>
                      <a:endParaRPr lang="it-IT" sz="1200" dirty="0">
                        <a:latin typeface="Spectral Medium" pitchFamily="2" charset="0"/>
                      </a:endParaRPr>
                    </a:p>
                  </a:txBody>
                  <a:tcPr/>
                </a:tc>
                <a:tc>
                  <a:txBody>
                    <a:bodyPr/>
                    <a:lstStyle/>
                    <a:p>
                      <a:r>
                        <a:rPr lang="it-IT" sz="1200" dirty="0" smtClean="0">
                          <a:latin typeface="Spectral Medium" pitchFamily="2" charset="0"/>
                        </a:rPr>
                        <a:t>ADF</a:t>
                      </a:r>
                      <a:r>
                        <a:rPr lang="it-IT" sz="1200" baseline="0" dirty="0" smtClean="0">
                          <a:latin typeface="Spectral Medium" pitchFamily="2" charset="0"/>
                        </a:rPr>
                        <a:t> (with </a:t>
                      </a:r>
                      <a:r>
                        <a:rPr lang="it-IT" sz="1200" baseline="0" dirty="0" err="1" smtClean="0">
                          <a:latin typeface="Spectral Medium" pitchFamily="2" charset="0"/>
                        </a:rPr>
                        <a:t>drift</a:t>
                      </a:r>
                      <a:r>
                        <a:rPr lang="it-IT" sz="1200" baseline="0" dirty="0" smtClean="0">
                          <a:latin typeface="Spectral Medium" pitchFamily="2" charset="0"/>
                        </a:rPr>
                        <a:t>)</a:t>
                      </a:r>
                      <a:endParaRPr lang="it-IT" sz="1200" dirty="0">
                        <a:latin typeface="Spectral Medium" pitchFamily="2" charset="0"/>
                      </a:endParaRPr>
                    </a:p>
                  </a:txBody>
                  <a:tcPr/>
                </a:tc>
                <a:tc>
                  <a:txBody>
                    <a:bodyPr/>
                    <a:lstStyle/>
                    <a:p>
                      <a:r>
                        <a:rPr lang="it-IT" sz="1200" dirty="0" smtClean="0">
                          <a:latin typeface="Spectral Medium" pitchFamily="2" charset="0"/>
                        </a:rPr>
                        <a:t>-53.83</a:t>
                      </a:r>
                      <a:endParaRPr lang="it-IT" sz="1200" dirty="0">
                        <a:latin typeface="Spectral Medium" pitchFamily="2" charset="0"/>
                      </a:endParaRPr>
                    </a:p>
                  </a:txBody>
                  <a:tcPr/>
                </a:tc>
                <a:tc>
                  <a:txBody>
                    <a:bodyPr/>
                    <a:lstStyle/>
                    <a:p>
                      <a:r>
                        <a:rPr lang="it-IT" sz="1200" dirty="0" smtClean="0">
                          <a:latin typeface="Spectral Medium" pitchFamily="2" charset="0"/>
                        </a:rPr>
                        <a:t>&lt; 0.01</a:t>
                      </a:r>
                      <a:endParaRPr lang="it-IT" sz="1200" dirty="0">
                        <a:latin typeface="Spectral Medium" pitchFamily="2" charset="0"/>
                      </a:endParaRPr>
                    </a:p>
                  </a:txBody>
                  <a:tcPr/>
                </a:tc>
                <a:tc>
                  <a:txBody>
                    <a:bodyPr/>
                    <a:lstStyle/>
                    <a:p>
                      <a:r>
                        <a:rPr lang="it-IT" sz="1200" dirty="0" err="1" smtClean="0">
                          <a:latin typeface="Spectral Medium" pitchFamily="2" charset="0"/>
                        </a:rPr>
                        <a:t>Stationary</a:t>
                      </a:r>
                      <a:r>
                        <a:rPr lang="it-IT" sz="1200" dirty="0" smtClean="0">
                          <a:latin typeface="Spectral Medium" pitchFamily="2" charset="0"/>
                        </a:rPr>
                        <a:t>,</a:t>
                      </a:r>
                      <a:r>
                        <a:rPr lang="it-IT" sz="1200" baseline="0" dirty="0" smtClean="0">
                          <a:latin typeface="Spectral Medium" pitchFamily="2" charset="0"/>
                        </a:rPr>
                        <a:t> </a:t>
                      </a:r>
                      <a:r>
                        <a:rPr lang="it-IT" sz="1200" dirty="0" smtClean="0">
                          <a:latin typeface="Spectral Medium" pitchFamily="2" charset="0"/>
                        </a:rPr>
                        <a:t>I(0)</a:t>
                      </a:r>
                      <a:endParaRPr lang="it-IT" sz="1200" dirty="0">
                        <a:latin typeface="Spectral Medium" pitchFamily="2" charset="0"/>
                      </a:endParaRPr>
                    </a:p>
                  </a:txBody>
                  <a:tcPr/>
                </a:tc>
                <a:extLst>
                  <a:ext uri="{0D108BD9-81ED-4DB2-BD59-A6C34878D82A}">
                    <a16:rowId xmlns:a16="http://schemas.microsoft.com/office/drawing/2014/main" val="685220791"/>
                  </a:ext>
                </a:extLst>
              </a:tr>
            </a:tbl>
          </a:graphicData>
        </a:graphic>
      </p:graphicFrame>
      <p:cxnSp>
        <p:nvCxnSpPr>
          <p:cNvPr id="10" name="Connettore diritto 9"/>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1398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Univariate</a:t>
            </a:r>
            <a:r>
              <a:rPr lang="en-GB" sz="4000" dirty="0" smtClean="0">
                <a:latin typeface="Spectral Medium" pitchFamily="2" charset="0"/>
              </a:rPr>
              <a:t> analysis on NEE:</a:t>
            </a:r>
            <a:br>
              <a:rPr lang="en-GB" sz="4000" dirty="0" smtClean="0">
                <a:latin typeface="Spectral Medium" pitchFamily="2" charset="0"/>
              </a:rPr>
            </a:br>
            <a:r>
              <a:rPr lang="en-GB" sz="2800" dirty="0" smtClean="0">
                <a:latin typeface="Spectral Medium" pitchFamily="2" charset="0"/>
              </a:rPr>
              <a:t>Model Identification </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4</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sp>
        <p:nvSpPr>
          <p:cNvPr id="9" name="Sottotitolo 2"/>
          <p:cNvSpPr txBox="1">
            <a:spLocks/>
          </p:cNvSpPr>
          <p:nvPr/>
        </p:nvSpPr>
        <p:spPr>
          <a:xfrm>
            <a:off x="838199" y="1785966"/>
            <a:ext cx="9530665"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From ACF, PACF we observe serial dependence at Lag 1. </a:t>
            </a:r>
          </a:p>
          <a:p>
            <a:pPr marL="0" indent="0">
              <a:buNone/>
            </a:pPr>
            <a:r>
              <a:rPr lang="en-GB" sz="1600" dirty="0" smtClean="0">
                <a:latin typeface="Spectral Medium" pitchFamily="2" charset="0"/>
                <a:ea typeface="Inter 28pt" panose="02000503000000020004" pitchFamily="2" charset="0"/>
              </a:rPr>
              <a:t>A note on seasonality: from ACF, PACF we notice significant correlations also at lags 4,5,6,7. However, given the financial nature of the series and to preserve parsimony, I choose not to include seasonal components. I considered it a priority to model the </a:t>
            </a:r>
            <a:r>
              <a:rPr lang="en-GB" sz="1600" b="1" dirty="0" smtClean="0">
                <a:latin typeface="Spectral Medium" pitchFamily="2" charset="0"/>
                <a:ea typeface="Inter 28pt" panose="02000503000000020004" pitchFamily="2" charset="0"/>
              </a:rPr>
              <a:t>strong</a:t>
            </a:r>
            <a:r>
              <a:rPr lang="en-GB" sz="1600" dirty="0" smtClean="0">
                <a:latin typeface="Spectral Medium" pitchFamily="2" charset="0"/>
                <a:ea typeface="Inter 28pt" panose="02000503000000020004" pitchFamily="2" charset="0"/>
              </a:rPr>
              <a:t> </a:t>
            </a:r>
            <a:r>
              <a:rPr lang="en-GB" sz="1600" b="1" dirty="0" smtClean="0">
                <a:latin typeface="Spectral Medium" pitchFamily="2" charset="0"/>
                <a:ea typeface="Inter 28pt" panose="02000503000000020004" pitchFamily="2" charset="0"/>
              </a:rPr>
              <a:t>conditional</a:t>
            </a:r>
            <a:r>
              <a:rPr lang="en-GB" sz="1600" dirty="0" smtClean="0">
                <a:latin typeface="Spectral Medium" pitchFamily="2" charset="0"/>
                <a:ea typeface="Inter 28pt" panose="02000503000000020004" pitchFamily="2" charset="0"/>
              </a:rPr>
              <a:t> </a:t>
            </a:r>
            <a:r>
              <a:rPr lang="en-GB" sz="1600" b="1" dirty="0" smtClean="0">
                <a:latin typeface="Spectral Medium" pitchFamily="2" charset="0"/>
                <a:ea typeface="Inter 28pt" panose="02000503000000020004" pitchFamily="2" charset="0"/>
              </a:rPr>
              <a:t>heteroscedasticity</a:t>
            </a:r>
            <a:r>
              <a:rPr lang="en-GB" sz="1600" dirty="0" smtClean="0">
                <a:latin typeface="Spectral Medium" pitchFamily="2" charset="0"/>
                <a:ea typeface="Inter 28pt" panose="02000503000000020004" pitchFamily="2" charset="0"/>
              </a:rPr>
              <a:t>, which </a:t>
            </a:r>
            <a:r>
              <a:rPr lang="en-GB" sz="1600" dirty="0" smtClean="0">
                <a:latin typeface="Spectral Medium" pitchFamily="2" charset="0"/>
                <a:ea typeface="Inter 28pt" panose="02000503000000020004" pitchFamily="2" charset="0"/>
              </a:rPr>
              <a:t>usually is a </a:t>
            </a:r>
            <a:r>
              <a:rPr lang="en-GB" sz="1600" dirty="0" smtClean="0">
                <a:latin typeface="Spectral Medium" pitchFamily="2" charset="0"/>
                <a:ea typeface="Inter 28pt" panose="02000503000000020004" pitchFamily="2" charset="0"/>
              </a:rPr>
              <a:t>dominant feature of daily stock returns.</a:t>
            </a:r>
          </a:p>
          <a:p>
            <a:pPr marL="0" indent="0">
              <a:buNone/>
            </a:pPr>
            <a:endParaRPr lang="it-IT" sz="1600" dirty="0">
              <a:latin typeface="Spectral Medium" pitchFamily="2" charset="0"/>
              <a:ea typeface="Inter 28pt" panose="02000503000000020004" pitchFamily="2" charset="0"/>
            </a:endParaRPr>
          </a:p>
        </p:txBody>
      </p:sp>
      <p:pic>
        <p:nvPicPr>
          <p:cNvPr id="13" name="Immagin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6245" y="3558949"/>
            <a:ext cx="4271322" cy="2230247"/>
          </a:xfrm>
          <a:prstGeom prst="rect">
            <a:avLst/>
          </a:prstGeom>
        </p:spPr>
      </p:pic>
      <p:pic>
        <p:nvPicPr>
          <p:cNvPr id="14" name="Immagin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5613" y="3558949"/>
            <a:ext cx="4271320" cy="2230247"/>
          </a:xfrm>
          <a:prstGeom prst="rect">
            <a:avLst/>
          </a:prstGeom>
        </p:spPr>
      </p:pic>
      <p:cxnSp>
        <p:nvCxnSpPr>
          <p:cNvPr id="11" name="Connettore diritto 10"/>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3986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Univariate</a:t>
            </a:r>
            <a:r>
              <a:rPr lang="en-GB" sz="4000" dirty="0" smtClean="0">
                <a:latin typeface="Spectral Medium" pitchFamily="2" charset="0"/>
              </a:rPr>
              <a:t> analysis on NEE:</a:t>
            </a:r>
            <a:br>
              <a:rPr lang="en-GB" sz="4000" dirty="0" smtClean="0">
                <a:latin typeface="Spectral Medium" pitchFamily="2" charset="0"/>
              </a:rPr>
            </a:br>
            <a:r>
              <a:rPr lang="en-GB" sz="2800" dirty="0" smtClean="0">
                <a:latin typeface="Spectral Medium" pitchFamily="2" charset="0"/>
              </a:rPr>
              <a:t>Model Identification </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5</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sp>
        <p:nvSpPr>
          <p:cNvPr id="9" name="Sottotitolo 2"/>
          <p:cNvSpPr txBox="1">
            <a:spLocks/>
          </p:cNvSpPr>
          <p:nvPr/>
        </p:nvSpPr>
        <p:spPr>
          <a:xfrm>
            <a:off x="838200" y="1785966"/>
            <a:ext cx="9606280"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AIC and Log-likelihood values are extremely close across models. We can interpret this pattern as a response to Efficient Market Hypothesis: the predictable component, </a:t>
            </a:r>
            <a:r>
              <a:rPr lang="en-GB" sz="1600" b="1" dirty="0" smtClean="0">
                <a:latin typeface="Spectral Medium" pitchFamily="2" charset="0"/>
                <a:ea typeface="Inter 28pt" panose="02000503000000020004" pitchFamily="2" charset="0"/>
              </a:rPr>
              <a:t>the signal</a:t>
            </a:r>
            <a:r>
              <a:rPr lang="en-GB" sz="1600" dirty="0" smtClean="0">
                <a:latin typeface="Spectral Medium" pitchFamily="2" charset="0"/>
                <a:ea typeface="Inter 28pt" panose="02000503000000020004" pitchFamily="2" charset="0"/>
              </a:rPr>
              <a:t>, of returns </a:t>
            </a:r>
            <a:r>
              <a:rPr lang="en-GB" sz="1600" b="1" dirty="0" smtClean="0">
                <a:latin typeface="Spectral Medium" pitchFamily="2" charset="0"/>
                <a:ea typeface="Inter 28pt" panose="02000503000000020004" pitchFamily="2" charset="0"/>
              </a:rPr>
              <a:t>is very weak </a:t>
            </a:r>
            <a:r>
              <a:rPr lang="en-GB" sz="1600" dirty="0" smtClean="0">
                <a:latin typeface="Spectral Medium" pitchFamily="2" charset="0"/>
                <a:ea typeface="Inter 28pt" panose="02000503000000020004" pitchFamily="2" charset="0"/>
              </a:rPr>
              <a:t>compared to the noise, for each of these simple models. </a:t>
            </a:r>
          </a:p>
          <a:p>
            <a:pPr marL="0" indent="0">
              <a:buNone/>
            </a:pPr>
            <a:r>
              <a:rPr lang="en-GB" sz="1600" dirty="0" smtClean="0">
                <a:latin typeface="Spectral Medium" pitchFamily="2" charset="0"/>
                <a:ea typeface="Inter 28pt" panose="02000503000000020004" pitchFamily="2" charset="0"/>
              </a:rPr>
              <a:t>Any of these pure models passes the validity test (</a:t>
            </a:r>
            <a:r>
              <a:rPr lang="en-GB" sz="1600" dirty="0" err="1" smtClean="0">
                <a:latin typeface="Spectral Medium" pitchFamily="2" charset="0"/>
                <a:ea typeface="Inter 28pt" panose="02000503000000020004" pitchFamily="2" charset="0"/>
              </a:rPr>
              <a:t>Ljung</a:t>
            </a:r>
            <a:r>
              <a:rPr lang="en-GB" sz="1600" dirty="0" smtClean="0">
                <a:latin typeface="Spectral Medium" pitchFamily="2" charset="0"/>
                <a:ea typeface="Inter 28pt" panose="02000503000000020004" pitchFamily="2" charset="0"/>
              </a:rPr>
              <a:t>-Box p-value &lt; 0.01). This indicates that the </a:t>
            </a:r>
            <a:r>
              <a:rPr lang="en-GB" sz="1600" b="1" dirty="0" smtClean="0">
                <a:latin typeface="Spectral Medium" pitchFamily="2" charset="0"/>
                <a:ea typeface="Inter 28pt" panose="02000503000000020004" pitchFamily="2" charset="0"/>
              </a:rPr>
              <a:t>linear structure </a:t>
            </a:r>
            <a:r>
              <a:rPr lang="en-GB" sz="1600" dirty="0" smtClean="0">
                <a:latin typeface="Spectral Medium" pitchFamily="2" charset="0"/>
                <a:ea typeface="Inter 28pt" panose="02000503000000020004" pitchFamily="2" charset="0"/>
              </a:rPr>
              <a:t>alone is </a:t>
            </a:r>
            <a:r>
              <a:rPr lang="en-GB" sz="1600" b="1" dirty="0" smtClean="0">
                <a:latin typeface="Spectral Medium" pitchFamily="2" charset="0"/>
                <a:ea typeface="Inter 28pt" panose="02000503000000020004" pitchFamily="2" charset="0"/>
              </a:rPr>
              <a:t>insufficient</a:t>
            </a:r>
            <a:r>
              <a:rPr lang="en-GB" sz="1600" dirty="0" smtClean="0">
                <a:latin typeface="Spectral Medium" pitchFamily="2" charset="0"/>
                <a:ea typeface="Inter 28pt" panose="02000503000000020004" pitchFamily="2" charset="0"/>
              </a:rPr>
              <a:t> to capture the data complexity</a:t>
            </a:r>
            <a:r>
              <a:rPr lang="en-GB" sz="1600" dirty="0" smtClean="0">
                <a:latin typeface="Spectral Medium" pitchFamily="2" charset="0"/>
                <a:ea typeface="Inter 28pt" panose="02000503000000020004" pitchFamily="2" charset="0"/>
              </a:rPr>
              <a:t>.</a:t>
            </a:r>
          </a:p>
          <a:p>
            <a:pPr marL="0" indent="0">
              <a:buNone/>
            </a:pPr>
            <a:r>
              <a:rPr lang="en-GB" sz="1600" dirty="0" smtClean="0">
                <a:latin typeface="Spectral Medium" pitchFamily="2" charset="0"/>
                <a:ea typeface="Inter 28pt" panose="02000503000000020004" pitchFamily="2" charset="0"/>
              </a:rPr>
              <a:t>Despite </a:t>
            </a:r>
            <a:r>
              <a:rPr lang="en-GB" sz="1600" dirty="0" err="1" smtClean="0">
                <a:latin typeface="Spectral Medium" pitchFamily="2" charset="0"/>
                <a:ea typeface="Inter 28pt" panose="02000503000000020004" pitchFamily="2" charset="0"/>
              </a:rPr>
              <a:t>Arima</a:t>
            </a:r>
            <a:r>
              <a:rPr lang="en-GB" sz="1600" dirty="0" smtClean="0">
                <a:latin typeface="Spectral Medium" pitchFamily="2" charset="0"/>
                <a:ea typeface="Inter 28pt" panose="02000503000000020004" pitchFamily="2" charset="0"/>
              </a:rPr>
              <a:t>(1,1,0) having a slightly better performance than </a:t>
            </a:r>
            <a:r>
              <a:rPr lang="en-GB" sz="1600" dirty="0" err="1" smtClean="0">
                <a:latin typeface="Spectral Medium" pitchFamily="2" charset="0"/>
                <a:ea typeface="Inter 28pt" panose="02000503000000020004" pitchFamily="2" charset="0"/>
              </a:rPr>
              <a:t>Arima</a:t>
            </a:r>
            <a:r>
              <a:rPr lang="en-GB" sz="1600" dirty="0" smtClean="0">
                <a:latin typeface="Spectral Medium" pitchFamily="2" charset="0"/>
                <a:ea typeface="Inter 28pt" panose="02000503000000020004" pitchFamily="2" charset="0"/>
              </a:rPr>
              <a:t>(1,1,1), I </a:t>
            </a:r>
            <a:r>
              <a:rPr lang="en-GB" sz="1600" dirty="0" err="1" smtClean="0">
                <a:latin typeface="Spectral Medium" pitchFamily="2" charset="0"/>
                <a:ea typeface="Inter 28pt" panose="02000503000000020004" pitchFamily="2" charset="0"/>
              </a:rPr>
              <a:t>chosed</a:t>
            </a:r>
            <a:r>
              <a:rPr lang="en-GB" sz="1600" dirty="0" smtClean="0">
                <a:latin typeface="Spectral Medium" pitchFamily="2" charset="0"/>
                <a:ea typeface="Inter 28pt" panose="02000503000000020004" pitchFamily="2" charset="0"/>
              </a:rPr>
              <a:t> the second one to continue the analysis because of enhanced flexibility. Suddenly, I transformed </a:t>
            </a:r>
            <a:r>
              <a:rPr lang="en-GB" sz="1600" dirty="0" err="1" smtClean="0">
                <a:latin typeface="Spectral Medium" pitchFamily="2" charset="0"/>
                <a:ea typeface="Inter 28pt" panose="02000503000000020004" pitchFamily="2" charset="0"/>
              </a:rPr>
              <a:t>Arima</a:t>
            </a:r>
            <a:r>
              <a:rPr lang="en-GB" sz="1600" dirty="0" smtClean="0">
                <a:latin typeface="Spectral Medium" pitchFamily="2" charset="0"/>
                <a:ea typeface="Inter 28pt" panose="02000503000000020004" pitchFamily="2" charset="0"/>
              </a:rPr>
              <a:t>(1,1,1) in </a:t>
            </a:r>
            <a:r>
              <a:rPr lang="en-GB" sz="1600" dirty="0" err="1" smtClean="0">
                <a:latin typeface="Spectral Medium" pitchFamily="2" charset="0"/>
                <a:ea typeface="Inter 28pt" panose="02000503000000020004" pitchFamily="2" charset="0"/>
              </a:rPr>
              <a:t>Arma</a:t>
            </a:r>
            <a:r>
              <a:rPr lang="en-GB" sz="1600" dirty="0" smtClean="0">
                <a:latin typeface="Spectral Medium" pitchFamily="2" charset="0"/>
                <a:ea typeface="Inter 28pt" panose="02000503000000020004" pitchFamily="2" charset="0"/>
              </a:rPr>
              <a:t>(1,1) in order to mix it with GARCH.</a:t>
            </a:r>
            <a:endParaRPr lang="en-GB" sz="1600" dirty="0" smtClean="0">
              <a:latin typeface="Spectral Medium" pitchFamily="2" charset="0"/>
              <a:ea typeface="Inter 28pt" panose="02000503000000020004" pitchFamily="2" charset="0"/>
            </a:endParaRPr>
          </a:p>
          <a:p>
            <a:pPr marL="0" indent="0">
              <a:buNone/>
            </a:pPr>
            <a:r>
              <a:rPr lang="en-GB" sz="1600" dirty="0" smtClean="0">
                <a:latin typeface="Spectral Medium" pitchFamily="2" charset="0"/>
                <a:ea typeface="Inter 28pt" panose="02000503000000020004" pitchFamily="2" charset="0"/>
              </a:rPr>
              <a:t>Conclusion: we need a more flexible specification!</a:t>
            </a:r>
          </a:p>
          <a:p>
            <a:pPr marL="0" indent="0">
              <a:buNone/>
            </a:pPr>
            <a:endParaRPr lang="it-IT" sz="1600" dirty="0">
              <a:latin typeface="Spectral Medium" pitchFamily="2" charset="0"/>
              <a:ea typeface="Inter 28pt" panose="02000503000000020004" pitchFamily="2" charset="0"/>
            </a:endParaRPr>
          </a:p>
        </p:txBody>
      </p:sp>
      <p:graphicFrame>
        <p:nvGraphicFramePr>
          <p:cNvPr id="6" name="Tabella 5"/>
          <p:cNvGraphicFramePr>
            <a:graphicFrameLocks noGrp="1"/>
          </p:cNvGraphicFramePr>
          <p:nvPr>
            <p:extLst>
              <p:ext uri="{D42A27DB-BD31-4B8C-83A1-F6EECF244321}">
                <p14:modId xmlns:p14="http://schemas.microsoft.com/office/powerpoint/2010/main" val="770280217"/>
              </p:ext>
            </p:extLst>
          </p:nvPr>
        </p:nvGraphicFramePr>
        <p:xfrm>
          <a:off x="2565525" y="4444218"/>
          <a:ext cx="6151630" cy="1569720"/>
        </p:xfrm>
        <a:graphic>
          <a:graphicData uri="http://schemas.openxmlformats.org/drawingml/2006/table">
            <a:tbl>
              <a:tblPr firstRow="1" bandRow="1">
                <a:tableStyleId>{5C22544A-7EE6-4342-B048-85BDC9FD1C3A}</a:tableStyleId>
              </a:tblPr>
              <a:tblGrid>
                <a:gridCol w="1288083">
                  <a:extLst>
                    <a:ext uri="{9D8B030D-6E8A-4147-A177-3AD203B41FA5}">
                      <a16:colId xmlns:a16="http://schemas.microsoft.com/office/drawing/2014/main" val="1764427063"/>
                    </a:ext>
                  </a:extLst>
                </a:gridCol>
                <a:gridCol w="1179443">
                  <a:extLst>
                    <a:ext uri="{9D8B030D-6E8A-4147-A177-3AD203B41FA5}">
                      <a16:colId xmlns:a16="http://schemas.microsoft.com/office/drawing/2014/main" val="3694722452"/>
                    </a:ext>
                  </a:extLst>
                </a:gridCol>
                <a:gridCol w="914400">
                  <a:extLst>
                    <a:ext uri="{9D8B030D-6E8A-4147-A177-3AD203B41FA5}">
                      <a16:colId xmlns:a16="http://schemas.microsoft.com/office/drawing/2014/main" val="358561201"/>
                    </a:ext>
                  </a:extLst>
                </a:gridCol>
                <a:gridCol w="1497496">
                  <a:extLst>
                    <a:ext uri="{9D8B030D-6E8A-4147-A177-3AD203B41FA5}">
                      <a16:colId xmlns:a16="http://schemas.microsoft.com/office/drawing/2014/main" val="3343411562"/>
                    </a:ext>
                  </a:extLst>
                </a:gridCol>
                <a:gridCol w="1272208">
                  <a:extLst>
                    <a:ext uri="{9D8B030D-6E8A-4147-A177-3AD203B41FA5}">
                      <a16:colId xmlns:a16="http://schemas.microsoft.com/office/drawing/2014/main" val="2983287915"/>
                    </a:ext>
                  </a:extLst>
                </a:gridCol>
              </a:tblGrid>
              <a:tr h="370840">
                <a:tc>
                  <a:txBody>
                    <a:bodyPr/>
                    <a:lstStyle/>
                    <a:p>
                      <a:r>
                        <a:rPr lang="it-IT" sz="1200" b="0" dirty="0" smtClean="0">
                          <a:latin typeface="Spectral Medium" pitchFamily="2" charset="0"/>
                        </a:rPr>
                        <a:t>Candidate model</a:t>
                      </a:r>
                      <a:endParaRPr lang="it-IT" sz="1200" b="0" dirty="0">
                        <a:latin typeface="Spectral Medium" pitchFamily="2" charset="0"/>
                      </a:endParaRPr>
                    </a:p>
                  </a:txBody>
                  <a:tcPr/>
                </a:tc>
                <a:tc>
                  <a:txBody>
                    <a:bodyPr/>
                    <a:lstStyle/>
                    <a:p>
                      <a:r>
                        <a:rPr lang="it-IT" sz="1200" b="0" dirty="0" smtClean="0">
                          <a:latin typeface="Spectral Medium" pitchFamily="2" charset="0"/>
                        </a:rPr>
                        <a:t>Log-</a:t>
                      </a:r>
                      <a:r>
                        <a:rPr lang="it-IT" sz="1200" b="0" dirty="0" err="1" smtClean="0">
                          <a:latin typeface="Spectral Medium" pitchFamily="2" charset="0"/>
                        </a:rPr>
                        <a:t>likelihood</a:t>
                      </a:r>
                      <a:endParaRPr lang="it-IT" sz="1200" b="0" dirty="0">
                        <a:latin typeface="Spectral Medium" pitchFamily="2" charset="0"/>
                      </a:endParaRPr>
                    </a:p>
                  </a:txBody>
                  <a:tcPr/>
                </a:tc>
                <a:tc>
                  <a:txBody>
                    <a:bodyPr/>
                    <a:lstStyle/>
                    <a:p>
                      <a:r>
                        <a:rPr lang="it-IT" sz="1200" b="0" dirty="0" smtClean="0">
                          <a:latin typeface="Spectral Medium" pitchFamily="2" charset="0"/>
                        </a:rPr>
                        <a:t>AIC</a:t>
                      </a:r>
                      <a:endParaRPr lang="it-IT" sz="1200" b="0" dirty="0">
                        <a:latin typeface="Spectral Medium" pitchFamily="2" charset="0"/>
                      </a:endParaRPr>
                    </a:p>
                  </a:txBody>
                  <a:tcPr/>
                </a:tc>
                <a:tc>
                  <a:txBody>
                    <a:bodyPr/>
                    <a:lstStyle/>
                    <a:p>
                      <a:r>
                        <a:rPr lang="it-IT" sz="1200" b="0" dirty="0" smtClean="0">
                          <a:latin typeface="Spectral Medium" pitchFamily="2" charset="0"/>
                        </a:rPr>
                        <a:t>P-</a:t>
                      </a:r>
                      <a:r>
                        <a:rPr lang="it-IT" sz="1200" b="0" dirty="0" err="1" smtClean="0">
                          <a:latin typeface="Spectral Medium" pitchFamily="2" charset="0"/>
                        </a:rPr>
                        <a:t>value</a:t>
                      </a:r>
                      <a:r>
                        <a:rPr lang="it-IT" sz="1200" b="0" dirty="0" smtClean="0">
                          <a:latin typeface="Spectral Medium" pitchFamily="2" charset="0"/>
                        </a:rPr>
                        <a:t> (</a:t>
                      </a:r>
                      <a:r>
                        <a:rPr lang="it-IT" sz="1200" b="0" dirty="0" err="1" smtClean="0">
                          <a:latin typeface="Spectral Medium" pitchFamily="2" charset="0"/>
                        </a:rPr>
                        <a:t>Ljung</a:t>
                      </a:r>
                      <a:r>
                        <a:rPr lang="it-IT" sz="1200" b="0" dirty="0" smtClean="0">
                          <a:latin typeface="Spectral Medium" pitchFamily="2" charset="0"/>
                        </a:rPr>
                        <a:t>-Box)</a:t>
                      </a:r>
                      <a:endParaRPr lang="it-IT" sz="1200" b="0" dirty="0">
                        <a:latin typeface="Spectral Medium" pitchFamily="2" charset="0"/>
                      </a:endParaRPr>
                    </a:p>
                  </a:txBody>
                  <a:tcPr/>
                </a:tc>
                <a:tc>
                  <a:txBody>
                    <a:bodyPr/>
                    <a:lstStyle/>
                    <a:p>
                      <a:r>
                        <a:rPr lang="it-IT" sz="1200" b="0" dirty="0" err="1" smtClean="0">
                          <a:latin typeface="Spectral Medium" pitchFamily="2" charset="0"/>
                        </a:rPr>
                        <a:t>Conclusion</a:t>
                      </a:r>
                      <a:endParaRPr lang="it-IT" sz="1200" b="0" dirty="0">
                        <a:latin typeface="Spectral Medium" pitchFamily="2" charset="0"/>
                      </a:endParaRPr>
                    </a:p>
                  </a:txBody>
                  <a:tcPr/>
                </a:tc>
                <a:extLst>
                  <a:ext uri="{0D108BD9-81ED-4DB2-BD59-A6C34878D82A}">
                    <a16:rowId xmlns:a16="http://schemas.microsoft.com/office/drawing/2014/main" val="1471026352"/>
                  </a:ext>
                </a:extLst>
              </a:tr>
              <a:tr h="370840">
                <a:tc>
                  <a:txBody>
                    <a:bodyPr/>
                    <a:lstStyle/>
                    <a:p>
                      <a:r>
                        <a:rPr lang="it-IT" sz="1200" b="0" dirty="0" smtClean="0">
                          <a:latin typeface="Spectral Medium" pitchFamily="2" charset="0"/>
                        </a:rPr>
                        <a:t>ARIMA(1,1,0)</a:t>
                      </a:r>
                    </a:p>
                  </a:txBody>
                  <a:tcPr/>
                </a:tc>
                <a:tc>
                  <a:txBody>
                    <a:bodyPr/>
                    <a:lstStyle/>
                    <a:p>
                      <a:r>
                        <a:rPr lang="it-IT" sz="1200" b="0" dirty="0" smtClean="0">
                          <a:latin typeface="Spectral Medium" pitchFamily="2" charset="0"/>
                        </a:rPr>
                        <a:t>7457.79</a:t>
                      </a:r>
                      <a:endParaRPr lang="it-IT" sz="1200" b="0" dirty="0">
                        <a:latin typeface="Spectral Medium" pitchFamily="2" charset="0"/>
                      </a:endParaRPr>
                    </a:p>
                  </a:txBody>
                  <a:tcPr/>
                </a:tc>
                <a:tc>
                  <a:txBody>
                    <a:bodyPr/>
                    <a:lstStyle/>
                    <a:p>
                      <a:r>
                        <a:rPr lang="it-IT" sz="1200" b="0" dirty="0" smtClean="0">
                          <a:latin typeface="Spectral Medium" pitchFamily="2" charset="0"/>
                        </a:rPr>
                        <a:t>-14911.58</a:t>
                      </a:r>
                    </a:p>
                  </a:txBody>
                  <a:tcPr/>
                </a:tc>
                <a:tc>
                  <a:txBody>
                    <a:bodyPr/>
                    <a:lstStyle/>
                    <a:p>
                      <a:r>
                        <a:rPr lang="it-IT" sz="1200" b="0" dirty="0" smtClean="0">
                          <a:latin typeface="Spectral Medium" pitchFamily="2" charset="0"/>
                        </a:rPr>
                        <a:t>&lt; 0.01</a:t>
                      </a:r>
                    </a:p>
                  </a:txBody>
                  <a:tcPr/>
                </a:tc>
                <a:tc rowSpan="3">
                  <a:txBody>
                    <a:bodyPr/>
                    <a:lstStyle/>
                    <a:p>
                      <a:r>
                        <a:rPr lang="it-IT" sz="1200" b="0" dirty="0" smtClean="0">
                          <a:latin typeface="Spectral Medium" pitchFamily="2" charset="0"/>
                        </a:rPr>
                        <a:t>A linear </a:t>
                      </a:r>
                      <a:r>
                        <a:rPr lang="it-IT" sz="1200" b="0" dirty="0" err="1" smtClean="0">
                          <a:latin typeface="Spectral Medium" pitchFamily="2" charset="0"/>
                        </a:rPr>
                        <a:t>specification</a:t>
                      </a:r>
                      <a:r>
                        <a:rPr lang="it-IT" sz="1200" b="0" dirty="0" smtClean="0">
                          <a:latin typeface="Spectral Medium" pitchFamily="2" charset="0"/>
                        </a:rPr>
                        <a:t> alone </a:t>
                      </a:r>
                      <a:r>
                        <a:rPr lang="it-IT" sz="1200" b="0" dirty="0" err="1" smtClean="0">
                          <a:latin typeface="Spectral Medium" pitchFamily="2" charset="0"/>
                        </a:rPr>
                        <a:t>is</a:t>
                      </a:r>
                      <a:r>
                        <a:rPr lang="it-IT" sz="1200" b="0" dirty="0" smtClean="0">
                          <a:latin typeface="Spectral Medium" pitchFamily="2" charset="0"/>
                        </a:rPr>
                        <a:t> </a:t>
                      </a:r>
                      <a:r>
                        <a:rPr lang="it-IT" sz="1200" b="0" dirty="0" err="1" smtClean="0">
                          <a:latin typeface="Spectral Medium" pitchFamily="2" charset="0"/>
                        </a:rPr>
                        <a:t>not</a:t>
                      </a:r>
                      <a:r>
                        <a:rPr lang="it-IT" sz="1200" b="0" dirty="0" smtClean="0">
                          <a:latin typeface="Spectral Medium" pitchFamily="2" charset="0"/>
                        </a:rPr>
                        <a:t> </a:t>
                      </a:r>
                      <a:r>
                        <a:rPr lang="it-IT" sz="1200" b="0" dirty="0" err="1" smtClean="0">
                          <a:latin typeface="Spectral Medium" pitchFamily="2" charset="0"/>
                        </a:rPr>
                        <a:t>enough</a:t>
                      </a:r>
                      <a:r>
                        <a:rPr lang="it-IT" sz="1200" b="0" dirty="0" smtClean="0">
                          <a:latin typeface="Spectral Medium" pitchFamily="2" charset="0"/>
                        </a:rPr>
                        <a:t>, for </a:t>
                      </a:r>
                      <a:r>
                        <a:rPr lang="it-IT" sz="1200" b="0" dirty="0" err="1" smtClean="0">
                          <a:latin typeface="Spectral Medium" pitchFamily="2" charset="0"/>
                        </a:rPr>
                        <a:t>all</a:t>
                      </a:r>
                      <a:r>
                        <a:rPr lang="it-IT" sz="1200" b="0" dirty="0" smtClean="0">
                          <a:latin typeface="Spectral Medium" pitchFamily="2" charset="0"/>
                        </a:rPr>
                        <a:t> </a:t>
                      </a:r>
                      <a:r>
                        <a:rPr lang="it-IT" sz="1200" b="0" dirty="0" err="1" smtClean="0">
                          <a:latin typeface="Spectral Medium" pitchFamily="2" charset="0"/>
                        </a:rPr>
                        <a:t>models</a:t>
                      </a:r>
                      <a:endParaRPr lang="it-IT" sz="1200" b="0" dirty="0" smtClean="0">
                        <a:latin typeface="Spectral Medium" pitchFamily="2" charset="0"/>
                      </a:endParaRPr>
                    </a:p>
                  </a:txBody>
                  <a:tcPr/>
                </a:tc>
                <a:extLst>
                  <a:ext uri="{0D108BD9-81ED-4DB2-BD59-A6C34878D82A}">
                    <a16:rowId xmlns:a16="http://schemas.microsoft.com/office/drawing/2014/main" val="2609885925"/>
                  </a:ext>
                </a:extLst>
              </a:tr>
              <a:tr h="370840">
                <a:tc>
                  <a:txBody>
                    <a:bodyPr/>
                    <a:lstStyle/>
                    <a:p>
                      <a:r>
                        <a:rPr lang="it-IT" sz="1200" b="0" dirty="0" smtClean="0">
                          <a:latin typeface="Spectral Medium" pitchFamily="2" charset="0"/>
                        </a:rPr>
                        <a:t>ARIMA(0,1,1)</a:t>
                      </a:r>
                      <a:endParaRPr lang="it-IT" sz="1200" b="0" dirty="0">
                        <a:latin typeface="Spectral Medium" pitchFamily="2" charset="0"/>
                      </a:endParaRPr>
                    </a:p>
                  </a:txBody>
                  <a:tcPr/>
                </a:tc>
                <a:tc>
                  <a:txBody>
                    <a:bodyPr/>
                    <a:lstStyle/>
                    <a:p>
                      <a:r>
                        <a:rPr lang="it-IT" sz="1200" b="0" dirty="0" smtClean="0">
                          <a:latin typeface="Spectral Medium" pitchFamily="2" charset="0"/>
                        </a:rPr>
                        <a:t>7457.66</a:t>
                      </a:r>
                      <a:endParaRPr lang="it-IT" sz="1200" b="0" dirty="0">
                        <a:latin typeface="Spectral Medium" pitchFamily="2" charset="0"/>
                      </a:endParaRPr>
                    </a:p>
                  </a:txBody>
                  <a:tcPr/>
                </a:tc>
                <a:tc>
                  <a:txBody>
                    <a:bodyPr/>
                    <a:lstStyle/>
                    <a:p>
                      <a:r>
                        <a:rPr lang="it-IT" sz="1200" b="0" dirty="0" smtClean="0">
                          <a:latin typeface="Spectral Medium" pitchFamily="2" charset="0"/>
                        </a:rPr>
                        <a:t>-14911.32</a:t>
                      </a:r>
                      <a:endParaRPr lang="it-IT" sz="1200" b="0" dirty="0">
                        <a:latin typeface="Spectral Medium"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t-IT" sz="1200" b="0" dirty="0" smtClean="0">
                          <a:latin typeface="Spectral Medium" pitchFamily="2" charset="0"/>
                        </a:rPr>
                        <a:t>&lt; 0.01</a:t>
                      </a:r>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dirty="0" smtClean="0"/>
                    </a:p>
                  </a:txBody>
                  <a:tcPr/>
                </a:tc>
                <a:extLst>
                  <a:ext uri="{0D108BD9-81ED-4DB2-BD59-A6C34878D82A}">
                    <a16:rowId xmlns:a16="http://schemas.microsoft.com/office/drawing/2014/main" val="3683237230"/>
                  </a:ext>
                </a:extLst>
              </a:tr>
              <a:tr h="370840">
                <a:tc>
                  <a:txBody>
                    <a:bodyPr/>
                    <a:lstStyle/>
                    <a:p>
                      <a:r>
                        <a:rPr lang="it-IT" sz="1200" b="0" dirty="0" smtClean="0">
                          <a:latin typeface="Spectral Medium" pitchFamily="2" charset="0"/>
                        </a:rPr>
                        <a:t>ARIMA(1,1,1)</a:t>
                      </a:r>
                      <a:endParaRPr lang="it-IT" sz="1200" b="0" dirty="0">
                        <a:latin typeface="Spectral Medium" pitchFamily="2" charset="0"/>
                      </a:endParaRPr>
                    </a:p>
                  </a:txBody>
                  <a:tcPr/>
                </a:tc>
                <a:tc>
                  <a:txBody>
                    <a:bodyPr/>
                    <a:lstStyle/>
                    <a:p>
                      <a:r>
                        <a:rPr lang="it-IT" sz="1200" b="0" dirty="0" smtClean="0">
                          <a:latin typeface="Spectral Medium" pitchFamily="2" charset="0"/>
                        </a:rPr>
                        <a:t>7458.32</a:t>
                      </a:r>
                      <a:endParaRPr lang="it-IT" sz="1200" b="0" dirty="0">
                        <a:latin typeface="Spectral Medium" pitchFamily="2" charset="0"/>
                      </a:endParaRPr>
                    </a:p>
                  </a:txBody>
                  <a:tcPr/>
                </a:tc>
                <a:tc>
                  <a:txBody>
                    <a:bodyPr/>
                    <a:lstStyle/>
                    <a:p>
                      <a:r>
                        <a:rPr lang="it-IT" sz="1200" b="0" dirty="0" smtClean="0">
                          <a:latin typeface="Spectral Medium" pitchFamily="2" charset="0"/>
                        </a:rPr>
                        <a:t>-14910.63</a:t>
                      </a:r>
                      <a:endParaRPr lang="it-IT" sz="1200" b="0" dirty="0">
                        <a:latin typeface="Spectral Medium"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t-IT" sz="1200" b="0" dirty="0" smtClean="0">
                          <a:latin typeface="Spectral Medium" pitchFamily="2" charset="0"/>
                        </a:rPr>
                        <a:t>&lt; 0.01</a:t>
                      </a:r>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dirty="0" smtClean="0"/>
                    </a:p>
                  </a:txBody>
                  <a:tcPr/>
                </a:tc>
                <a:extLst>
                  <a:ext uri="{0D108BD9-81ED-4DB2-BD59-A6C34878D82A}">
                    <a16:rowId xmlns:a16="http://schemas.microsoft.com/office/drawing/2014/main" val="3652148755"/>
                  </a:ext>
                </a:extLst>
              </a:tr>
            </a:tbl>
          </a:graphicData>
        </a:graphic>
      </p:graphicFrame>
      <p:cxnSp>
        <p:nvCxnSpPr>
          <p:cNvPr id="10" name="Connettore diritto 9"/>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049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Univariate</a:t>
            </a:r>
            <a:r>
              <a:rPr lang="en-GB" sz="4000" dirty="0" smtClean="0">
                <a:latin typeface="Spectral Medium" pitchFamily="2" charset="0"/>
              </a:rPr>
              <a:t> analysis on NEE:</a:t>
            </a:r>
            <a:br>
              <a:rPr lang="en-GB" sz="4000" dirty="0" smtClean="0">
                <a:latin typeface="Spectral Medium" pitchFamily="2" charset="0"/>
              </a:rPr>
            </a:br>
            <a:r>
              <a:rPr lang="en-GB" sz="2800" dirty="0" smtClean="0">
                <a:latin typeface="Spectral Medium" pitchFamily="2" charset="0"/>
              </a:rPr>
              <a:t>Model Estimation</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6</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sp>
        <p:nvSpPr>
          <p:cNvPr id="9" name="Sottotitolo 2"/>
          <p:cNvSpPr txBox="1">
            <a:spLocks/>
          </p:cNvSpPr>
          <p:nvPr/>
        </p:nvSpPr>
        <p:spPr>
          <a:xfrm>
            <a:off x="838199" y="1785966"/>
            <a:ext cx="9530665"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The </a:t>
            </a:r>
            <a:r>
              <a:rPr lang="en-GB" sz="1600" dirty="0" err="1" smtClean="0">
                <a:latin typeface="Spectral Medium" pitchFamily="2" charset="0"/>
                <a:ea typeface="Inter 28pt" panose="02000503000000020004" pitchFamily="2" charset="0"/>
              </a:rPr>
              <a:t>Ljung</a:t>
            </a:r>
            <a:r>
              <a:rPr lang="en-GB" sz="1600" dirty="0" smtClean="0">
                <a:latin typeface="Spectral Medium" pitchFamily="2" charset="0"/>
                <a:ea typeface="Inter 28pt" panose="02000503000000020004" pitchFamily="2" charset="0"/>
              </a:rPr>
              <a:t>-Box Test revealed </a:t>
            </a:r>
            <a:r>
              <a:rPr lang="en-GB" sz="1600" b="1" dirty="0" smtClean="0">
                <a:latin typeface="Spectral Medium" pitchFamily="2" charset="0"/>
                <a:ea typeface="Inter 28pt" panose="02000503000000020004" pitchFamily="2" charset="0"/>
              </a:rPr>
              <a:t>strong autocorrelation in the squared residuals</a:t>
            </a:r>
            <a:r>
              <a:rPr lang="en-GB" sz="1600" dirty="0" smtClean="0">
                <a:latin typeface="Spectral Medium" pitchFamily="2" charset="0"/>
                <a:ea typeface="Inter 28pt" panose="02000503000000020004" pitchFamily="2" charset="0"/>
              </a:rPr>
              <a:t>. This pattern clearly indicates financial volatility. The assumption of constant variance in classical ARIMA models is violated: a GARCH model is necessary to model this time-varying variance (conditional heteroscedasticity) and obtain more reliable estimates.</a:t>
            </a:r>
          </a:p>
          <a:p>
            <a:pPr marL="0" indent="0">
              <a:buNone/>
            </a:pPr>
            <a:endParaRPr lang="en-GB" sz="1600" dirty="0">
              <a:latin typeface="Spectral Medium" pitchFamily="2" charset="0"/>
              <a:ea typeface="Inter 28pt" panose="02000503000000020004" pitchFamily="2" charset="0"/>
            </a:endParaRPr>
          </a:p>
          <a:p>
            <a:pPr marL="0" indent="0">
              <a:buNone/>
            </a:pPr>
            <a:endParaRPr lang="en-GB" sz="1600" dirty="0" smtClean="0">
              <a:latin typeface="Spectral Medium" pitchFamily="2" charset="0"/>
              <a:ea typeface="Inter 28pt" panose="02000503000000020004" pitchFamily="2" charset="0"/>
            </a:endParaRPr>
          </a:p>
          <a:p>
            <a:pPr marL="0" indent="0">
              <a:buNone/>
            </a:pPr>
            <a:endParaRPr lang="en-GB" sz="1600" dirty="0">
              <a:latin typeface="Spectral Medium" pitchFamily="2" charset="0"/>
              <a:ea typeface="Inter 28pt" panose="02000503000000020004" pitchFamily="2" charset="0"/>
            </a:endParaRPr>
          </a:p>
          <a:p>
            <a:pPr marL="0" indent="0">
              <a:buNone/>
            </a:pPr>
            <a:r>
              <a:rPr lang="en-GB" sz="1600" dirty="0" smtClean="0">
                <a:latin typeface="Spectral Medium" pitchFamily="2" charset="0"/>
                <a:ea typeface="Inter 28pt" panose="02000503000000020004" pitchFamily="2" charset="0"/>
              </a:rPr>
              <a:t>Unlike pure ARIMA models, the ARMA(1,1)+GARCH(1,1) combination yields </a:t>
            </a:r>
            <a:r>
              <a:rPr lang="en-GB" sz="1600" b="1" dirty="0" smtClean="0">
                <a:latin typeface="Spectral Medium" pitchFamily="2" charset="0"/>
                <a:ea typeface="Inter 28pt" panose="02000503000000020004" pitchFamily="2" charset="0"/>
              </a:rPr>
              <a:t>all significant parameters</a:t>
            </a:r>
            <a:r>
              <a:rPr lang="en-GB" sz="1600" dirty="0" smtClean="0">
                <a:latin typeface="Spectral Medium" pitchFamily="2" charset="0"/>
                <a:ea typeface="Inter 28pt" panose="02000503000000020004" pitchFamily="2" charset="0"/>
              </a:rPr>
              <a:t>. Moreover, the high value of beta1 (0.905) indicates that </a:t>
            </a:r>
            <a:r>
              <a:rPr lang="en-GB" sz="1600" b="1" dirty="0" smtClean="0">
                <a:latin typeface="Spectral Medium" pitchFamily="2" charset="0"/>
                <a:ea typeface="Inter 28pt" panose="02000503000000020004" pitchFamily="2" charset="0"/>
              </a:rPr>
              <a:t>volatility shocks are highly persistent</a:t>
            </a:r>
            <a:r>
              <a:rPr lang="en-GB" sz="1600" dirty="0" smtClean="0">
                <a:latin typeface="Spectral Medium" pitchFamily="2" charset="0"/>
                <a:ea typeface="Inter 28pt" panose="02000503000000020004" pitchFamily="2" charset="0"/>
              </a:rPr>
              <a:t>, while alpha1 (0.085) shows that </a:t>
            </a:r>
            <a:r>
              <a:rPr lang="en-GB" sz="1600" b="1" dirty="0" smtClean="0">
                <a:latin typeface="Spectral Medium" pitchFamily="2" charset="0"/>
                <a:ea typeface="Inter 28pt" panose="02000503000000020004" pitchFamily="2" charset="0"/>
              </a:rPr>
              <a:t>new market shocks have an immediate impact</a:t>
            </a:r>
            <a:r>
              <a:rPr lang="en-GB" sz="1600" dirty="0" smtClean="0">
                <a:latin typeface="Spectral Medium" pitchFamily="2" charset="0"/>
                <a:ea typeface="Inter 28pt" panose="02000503000000020004" pitchFamily="2" charset="0"/>
              </a:rPr>
              <a:t>, even though smaller than the effects of recent volatility.</a:t>
            </a:r>
          </a:p>
          <a:p>
            <a:pPr marL="0" indent="0">
              <a:buNone/>
            </a:pPr>
            <a:endParaRPr lang="it-IT" sz="1600" dirty="0">
              <a:latin typeface="Spectral Medium" pitchFamily="2" charset="0"/>
              <a:ea typeface="Inter 28pt" panose="02000503000000020004" pitchFamily="2" charset="0"/>
            </a:endParaRPr>
          </a:p>
        </p:txBody>
      </p:sp>
      <p:graphicFrame>
        <p:nvGraphicFramePr>
          <p:cNvPr id="10" name="Tabella 9"/>
          <p:cNvGraphicFramePr>
            <a:graphicFrameLocks noGrp="1"/>
          </p:cNvGraphicFramePr>
          <p:nvPr>
            <p:extLst>
              <p:ext uri="{D42A27DB-BD31-4B8C-83A1-F6EECF244321}">
                <p14:modId xmlns:p14="http://schemas.microsoft.com/office/powerpoint/2010/main" val="2629227750"/>
              </p:ext>
            </p:extLst>
          </p:nvPr>
        </p:nvGraphicFramePr>
        <p:xfrm>
          <a:off x="1331102" y="2819754"/>
          <a:ext cx="8128000" cy="741680"/>
        </p:xfrm>
        <a:graphic>
          <a:graphicData uri="http://schemas.openxmlformats.org/drawingml/2006/table">
            <a:tbl>
              <a:tblPr firstRow="1" bandRow="1">
                <a:tableStyleId>{5C22544A-7EE6-4342-B048-85BDC9FD1C3A}</a:tableStyleId>
              </a:tblPr>
              <a:tblGrid>
                <a:gridCol w="1282286">
                  <a:extLst>
                    <a:ext uri="{9D8B030D-6E8A-4147-A177-3AD203B41FA5}">
                      <a16:colId xmlns:a16="http://schemas.microsoft.com/office/drawing/2014/main" val="11788231"/>
                    </a:ext>
                  </a:extLst>
                </a:gridCol>
                <a:gridCol w="1973703">
                  <a:extLst>
                    <a:ext uri="{9D8B030D-6E8A-4147-A177-3AD203B41FA5}">
                      <a16:colId xmlns:a16="http://schemas.microsoft.com/office/drawing/2014/main" val="4158415148"/>
                    </a:ext>
                  </a:extLst>
                </a:gridCol>
                <a:gridCol w="1513840">
                  <a:extLst>
                    <a:ext uri="{9D8B030D-6E8A-4147-A177-3AD203B41FA5}">
                      <a16:colId xmlns:a16="http://schemas.microsoft.com/office/drawing/2014/main" val="918486743"/>
                    </a:ext>
                  </a:extLst>
                </a:gridCol>
                <a:gridCol w="904240">
                  <a:extLst>
                    <a:ext uri="{9D8B030D-6E8A-4147-A177-3AD203B41FA5}">
                      <a16:colId xmlns:a16="http://schemas.microsoft.com/office/drawing/2014/main" val="3254538636"/>
                    </a:ext>
                  </a:extLst>
                </a:gridCol>
                <a:gridCol w="2453931">
                  <a:extLst>
                    <a:ext uri="{9D8B030D-6E8A-4147-A177-3AD203B41FA5}">
                      <a16:colId xmlns:a16="http://schemas.microsoft.com/office/drawing/2014/main" val="856368282"/>
                    </a:ext>
                  </a:extLst>
                </a:gridCol>
              </a:tblGrid>
              <a:tr h="370840">
                <a:tc>
                  <a:txBody>
                    <a:bodyPr/>
                    <a:lstStyle/>
                    <a:p>
                      <a:r>
                        <a:rPr lang="it-IT" sz="1200" dirty="0" smtClean="0">
                          <a:latin typeface="Spectral Medium" pitchFamily="2" charset="0"/>
                        </a:rPr>
                        <a:t>Test</a:t>
                      </a:r>
                      <a:endParaRPr lang="it-IT" sz="1200" dirty="0">
                        <a:latin typeface="Spectral Medium" pitchFamily="2" charset="0"/>
                      </a:endParaRPr>
                    </a:p>
                  </a:txBody>
                  <a:tcPr/>
                </a:tc>
                <a:tc>
                  <a:txBody>
                    <a:bodyPr/>
                    <a:lstStyle/>
                    <a:p>
                      <a:r>
                        <a:rPr lang="it-IT" sz="1200" dirty="0" err="1" smtClean="0">
                          <a:latin typeface="Spectral Medium" pitchFamily="2" charset="0"/>
                        </a:rPr>
                        <a:t>Variable</a:t>
                      </a:r>
                      <a:endParaRPr lang="it-IT" sz="1200" dirty="0">
                        <a:latin typeface="Spectral Medium" pitchFamily="2" charset="0"/>
                      </a:endParaRPr>
                    </a:p>
                  </a:txBody>
                  <a:tcPr/>
                </a:tc>
                <a:tc>
                  <a:txBody>
                    <a:bodyPr/>
                    <a:lstStyle/>
                    <a:p>
                      <a:r>
                        <a:rPr lang="it-IT" sz="1200" dirty="0" err="1" smtClean="0">
                          <a:latin typeface="Spectral Medium" pitchFamily="2" charset="0"/>
                        </a:rPr>
                        <a:t>Null</a:t>
                      </a:r>
                      <a:r>
                        <a:rPr lang="it-IT" sz="1200" baseline="0" dirty="0" smtClean="0">
                          <a:latin typeface="Spectral Medium" pitchFamily="2" charset="0"/>
                        </a:rPr>
                        <a:t> </a:t>
                      </a:r>
                      <a:r>
                        <a:rPr lang="it-IT" sz="1200" baseline="0" dirty="0" err="1" smtClean="0">
                          <a:latin typeface="Spectral Medium" pitchFamily="2" charset="0"/>
                        </a:rPr>
                        <a:t>Hypothesis</a:t>
                      </a:r>
                      <a:r>
                        <a:rPr lang="it-IT" sz="1200" baseline="0" dirty="0" smtClean="0">
                          <a:latin typeface="Spectral Medium" pitchFamily="2" charset="0"/>
                        </a:rPr>
                        <a:t> H0</a:t>
                      </a:r>
                      <a:endParaRPr lang="it-IT" sz="1200" dirty="0">
                        <a:latin typeface="Spectral Medium" pitchFamily="2" charset="0"/>
                      </a:endParaRPr>
                    </a:p>
                  </a:txBody>
                  <a:tcPr/>
                </a:tc>
                <a:tc>
                  <a:txBody>
                    <a:bodyPr/>
                    <a:lstStyle/>
                    <a:p>
                      <a:r>
                        <a:rPr lang="it-IT" sz="1200" dirty="0" smtClean="0">
                          <a:latin typeface="Spectral Medium" pitchFamily="2" charset="0"/>
                        </a:rPr>
                        <a:t>P-</a:t>
                      </a:r>
                      <a:r>
                        <a:rPr lang="it-IT" sz="1200" dirty="0" err="1" smtClean="0">
                          <a:latin typeface="Spectral Medium" pitchFamily="2" charset="0"/>
                        </a:rPr>
                        <a:t>value</a:t>
                      </a:r>
                      <a:endParaRPr lang="it-IT" sz="1200" dirty="0">
                        <a:latin typeface="Spectral Medium" pitchFamily="2" charset="0"/>
                      </a:endParaRPr>
                    </a:p>
                  </a:txBody>
                  <a:tcPr/>
                </a:tc>
                <a:tc>
                  <a:txBody>
                    <a:bodyPr/>
                    <a:lstStyle/>
                    <a:p>
                      <a:r>
                        <a:rPr lang="it-IT" sz="1200" dirty="0" err="1" smtClean="0">
                          <a:latin typeface="Spectral Medium" pitchFamily="2" charset="0"/>
                        </a:rPr>
                        <a:t>Conclusion</a:t>
                      </a:r>
                      <a:endParaRPr lang="it-IT" sz="1200" dirty="0">
                        <a:latin typeface="Spectral Medium" pitchFamily="2" charset="0"/>
                      </a:endParaRPr>
                    </a:p>
                  </a:txBody>
                  <a:tcPr/>
                </a:tc>
                <a:extLst>
                  <a:ext uri="{0D108BD9-81ED-4DB2-BD59-A6C34878D82A}">
                    <a16:rowId xmlns:a16="http://schemas.microsoft.com/office/drawing/2014/main" val="4026410492"/>
                  </a:ext>
                </a:extLst>
              </a:tr>
              <a:tr h="370840">
                <a:tc>
                  <a:txBody>
                    <a:bodyPr/>
                    <a:lstStyle/>
                    <a:p>
                      <a:r>
                        <a:rPr lang="it-IT" sz="1200" dirty="0" err="1" smtClean="0">
                          <a:latin typeface="Spectral Medium" pitchFamily="2" charset="0"/>
                        </a:rPr>
                        <a:t>Ljung</a:t>
                      </a:r>
                      <a:r>
                        <a:rPr lang="it-IT" sz="1200" dirty="0" smtClean="0">
                          <a:latin typeface="Spectral Medium" pitchFamily="2" charset="0"/>
                        </a:rPr>
                        <a:t>-Box (R^2)</a:t>
                      </a:r>
                      <a:endParaRPr lang="it-IT" sz="1200" dirty="0">
                        <a:latin typeface="Spectral Medium" pitchFamily="2" charset="0"/>
                      </a:endParaRPr>
                    </a:p>
                  </a:txBody>
                  <a:tcPr/>
                </a:tc>
                <a:tc>
                  <a:txBody>
                    <a:bodyPr/>
                    <a:lstStyle/>
                    <a:p>
                      <a:r>
                        <a:rPr lang="it-IT" sz="1200" dirty="0" err="1" smtClean="0">
                          <a:latin typeface="Spectral Medium" pitchFamily="2" charset="0"/>
                        </a:rPr>
                        <a:t>Squared</a:t>
                      </a:r>
                      <a:r>
                        <a:rPr lang="it-IT" sz="1200" dirty="0" smtClean="0">
                          <a:latin typeface="Spectral Medium" pitchFamily="2" charset="0"/>
                        </a:rPr>
                        <a:t> ARIMA </a:t>
                      </a:r>
                      <a:r>
                        <a:rPr lang="it-IT" sz="1200" dirty="0" err="1" smtClean="0">
                          <a:latin typeface="Spectral Medium" pitchFamily="2" charset="0"/>
                        </a:rPr>
                        <a:t>residuals</a:t>
                      </a:r>
                      <a:endParaRPr lang="it-IT" sz="1200" dirty="0">
                        <a:latin typeface="Spectral Medium" pitchFamily="2" charset="0"/>
                      </a:endParaRPr>
                    </a:p>
                  </a:txBody>
                  <a:tcPr/>
                </a:tc>
                <a:tc>
                  <a:txBody>
                    <a:bodyPr/>
                    <a:lstStyle/>
                    <a:p>
                      <a:r>
                        <a:rPr lang="it-IT" sz="1200" dirty="0" smtClean="0">
                          <a:latin typeface="Spectral Medium" pitchFamily="2" charset="0"/>
                        </a:rPr>
                        <a:t>No ARCH </a:t>
                      </a:r>
                      <a:r>
                        <a:rPr lang="it-IT" sz="1200" dirty="0" err="1" smtClean="0">
                          <a:latin typeface="Spectral Medium" pitchFamily="2" charset="0"/>
                        </a:rPr>
                        <a:t>effects</a:t>
                      </a:r>
                      <a:endParaRPr lang="it-IT" sz="1200" dirty="0">
                        <a:latin typeface="Spectral Medium" pitchFamily="2" charset="0"/>
                      </a:endParaRPr>
                    </a:p>
                  </a:txBody>
                  <a:tcPr/>
                </a:tc>
                <a:tc>
                  <a:txBody>
                    <a:bodyPr/>
                    <a:lstStyle/>
                    <a:p>
                      <a:r>
                        <a:rPr lang="it-IT" sz="1200" dirty="0" smtClean="0">
                          <a:latin typeface="Spectral Medium" pitchFamily="2" charset="0"/>
                        </a:rPr>
                        <a:t>&lt; 2.2</a:t>
                      </a:r>
                      <a:r>
                        <a:rPr lang="it-IT" sz="1200" baseline="0" dirty="0" smtClean="0">
                          <a:latin typeface="Spectral Medium" pitchFamily="2" charset="0"/>
                        </a:rPr>
                        <a:t> e^-16</a:t>
                      </a:r>
                      <a:endParaRPr lang="it-IT" sz="1200" dirty="0">
                        <a:latin typeface="Spectral Medium" pitchFamily="2" charset="0"/>
                      </a:endParaRPr>
                    </a:p>
                  </a:txBody>
                  <a:tcPr/>
                </a:tc>
                <a:tc>
                  <a:txBody>
                    <a:bodyPr/>
                    <a:lstStyle/>
                    <a:p>
                      <a:r>
                        <a:rPr lang="it-IT" sz="1200" dirty="0" smtClean="0">
                          <a:latin typeface="Spectral Medium" pitchFamily="2" charset="0"/>
                        </a:rPr>
                        <a:t>Strong </a:t>
                      </a:r>
                      <a:r>
                        <a:rPr lang="it-IT" sz="1200" dirty="0" err="1" smtClean="0">
                          <a:latin typeface="Spectral Medium" pitchFamily="2" charset="0"/>
                        </a:rPr>
                        <a:t>presence</a:t>
                      </a:r>
                      <a:r>
                        <a:rPr lang="it-IT" sz="1200" dirty="0" smtClean="0">
                          <a:latin typeface="Spectral Medium" pitchFamily="2" charset="0"/>
                        </a:rPr>
                        <a:t> of ARCH </a:t>
                      </a:r>
                      <a:r>
                        <a:rPr lang="it-IT" sz="1200" dirty="0" err="1" smtClean="0">
                          <a:latin typeface="Spectral Medium" pitchFamily="2" charset="0"/>
                        </a:rPr>
                        <a:t>effects</a:t>
                      </a:r>
                      <a:endParaRPr lang="it-IT" sz="1200" dirty="0">
                        <a:latin typeface="Spectral Medium" pitchFamily="2" charset="0"/>
                      </a:endParaRPr>
                    </a:p>
                  </a:txBody>
                  <a:tcPr/>
                </a:tc>
                <a:extLst>
                  <a:ext uri="{0D108BD9-81ED-4DB2-BD59-A6C34878D82A}">
                    <a16:rowId xmlns:a16="http://schemas.microsoft.com/office/drawing/2014/main" val="2006422675"/>
                  </a:ext>
                </a:extLst>
              </a:tr>
            </a:tbl>
          </a:graphicData>
        </a:graphic>
      </p:graphicFrame>
      <p:graphicFrame>
        <p:nvGraphicFramePr>
          <p:cNvPr id="12" name="Tabella 11"/>
          <p:cNvGraphicFramePr>
            <a:graphicFrameLocks noGrp="1"/>
          </p:cNvGraphicFramePr>
          <p:nvPr>
            <p:extLst>
              <p:ext uri="{D42A27DB-BD31-4B8C-83A1-F6EECF244321}">
                <p14:modId xmlns:p14="http://schemas.microsoft.com/office/powerpoint/2010/main" val="1668595350"/>
              </p:ext>
            </p:extLst>
          </p:nvPr>
        </p:nvGraphicFramePr>
        <p:xfrm>
          <a:off x="5186673" y="4692632"/>
          <a:ext cx="4272429" cy="1492512"/>
        </p:xfrm>
        <a:graphic>
          <a:graphicData uri="http://schemas.openxmlformats.org/drawingml/2006/table">
            <a:tbl>
              <a:tblPr firstRow="1" bandRow="1">
                <a:tableStyleId>{5C22544A-7EE6-4342-B048-85BDC9FD1C3A}</a:tableStyleId>
              </a:tblPr>
              <a:tblGrid>
                <a:gridCol w="1424143">
                  <a:extLst>
                    <a:ext uri="{9D8B030D-6E8A-4147-A177-3AD203B41FA5}">
                      <a16:colId xmlns:a16="http://schemas.microsoft.com/office/drawing/2014/main" val="3255705367"/>
                    </a:ext>
                  </a:extLst>
                </a:gridCol>
                <a:gridCol w="1424143">
                  <a:extLst>
                    <a:ext uri="{9D8B030D-6E8A-4147-A177-3AD203B41FA5}">
                      <a16:colId xmlns:a16="http://schemas.microsoft.com/office/drawing/2014/main" val="1945434337"/>
                    </a:ext>
                  </a:extLst>
                </a:gridCol>
                <a:gridCol w="1424143">
                  <a:extLst>
                    <a:ext uri="{9D8B030D-6E8A-4147-A177-3AD203B41FA5}">
                      <a16:colId xmlns:a16="http://schemas.microsoft.com/office/drawing/2014/main" val="2414483838"/>
                    </a:ext>
                  </a:extLst>
                </a:gridCol>
              </a:tblGrid>
              <a:tr h="243334">
                <a:tc>
                  <a:txBody>
                    <a:bodyPr/>
                    <a:lstStyle/>
                    <a:p>
                      <a:r>
                        <a:rPr lang="it-IT" sz="1100" dirty="0" err="1" smtClean="0">
                          <a:latin typeface="Spectral Medium" pitchFamily="2" charset="0"/>
                        </a:rPr>
                        <a:t>Parameter</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Estimate</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P-</a:t>
                      </a:r>
                      <a:r>
                        <a:rPr lang="it-IT" sz="1100" dirty="0" err="1" smtClean="0">
                          <a:latin typeface="Spectral Medium" pitchFamily="2" charset="0"/>
                        </a:rPr>
                        <a:t>value</a:t>
                      </a:r>
                      <a:endParaRPr lang="it-IT" sz="1100" dirty="0">
                        <a:latin typeface="Spectral Medium" pitchFamily="2" charset="0"/>
                      </a:endParaRPr>
                    </a:p>
                  </a:txBody>
                  <a:tcPr marL="81111" marR="81111" marT="40556" marB="40556"/>
                </a:tc>
                <a:extLst>
                  <a:ext uri="{0D108BD9-81ED-4DB2-BD59-A6C34878D82A}">
                    <a16:rowId xmlns:a16="http://schemas.microsoft.com/office/drawing/2014/main" val="1849202387"/>
                  </a:ext>
                </a:extLst>
              </a:tr>
              <a:tr h="243334">
                <a:tc>
                  <a:txBody>
                    <a:bodyPr/>
                    <a:lstStyle/>
                    <a:p>
                      <a:r>
                        <a:rPr lang="it-IT" sz="1100" dirty="0" smtClean="0">
                          <a:latin typeface="Spectral Medium" pitchFamily="2" charset="0"/>
                        </a:rPr>
                        <a:t>mu</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0.0005</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0.012</a:t>
                      </a:r>
                      <a:endParaRPr lang="it-IT" sz="1100" dirty="0">
                        <a:latin typeface="Spectral Medium" pitchFamily="2" charset="0"/>
                      </a:endParaRPr>
                    </a:p>
                  </a:txBody>
                  <a:tcPr marL="81111" marR="81111" marT="40556" marB="40556"/>
                </a:tc>
                <a:extLst>
                  <a:ext uri="{0D108BD9-81ED-4DB2-BD59-A6C34878D82A}">
                    <a16:rowId xmlns:a16="http://schemas.microsoft.com/office/drawing/2014/main" val="2509248408"/>
                  </a:ext>
                </a:extLst>
              </a:tr>
              <a:tr h="243334">
                <a:tc>
                  <a:txBody>
                    <a:bodyPr/>
                    <a:lstStyle/>
                    <a:p>
                      <a:r>
                        <a:rPr lang="it-IT" sz="1100" dirty="0" smtClean="0">
                          <a:latin typeface="Spectral Medium" pitchFamily="2" charset="0"/>
                        </a:rPr>
                        <a:t>ar1</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0.358</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0.024</a:t>
                      </a:r>
                      <a:endParaRPr lang="it-IT" sz="1100" dirty="0">
                        <a:latin typeface="Spectral Medium" pitchFamily="2" charset="0"/>
                      </a:endParaRPr>
                    </a:p>
                  </a:txBody>
                  <a:tcPr marL="81111" marR="81111" marT="40556" marB="40556"/>
                </a:tc>
                <a:extLst>
                  <a:ext uri="{0D108BD9-81ED-4DB2-BD59-A6C34878D82A}">
                    <a16:rowId xmlns:a16="http://schemas.microsoft.com/office/drawing/2014/main" val="597777149"/>
                  </a:ext>
                </a:extLst>
              </a:tr>
              <a:tr h="243334">
                <a:tc>
                  <a:txBody>
                    <a:bodyPr/>
                    <a:lstStyle/>
                    <a:p>
                      <a:r>
                        <a:rPr lang="it-IT" sz="1100" dirty="0" smtClean="0">
                          <a:latin typeface="Spectral Medium" pitchFamily="2" charset="0"/>
                        </a:rPr>
                        <a:t>ma1</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-0.404</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0.010</a:t>
                      </a:r>
                      <a:endParaRPr lang="it-IT" sz="1100" dirty="0">
                        <a:latin typeface="Spectral Medium" pitchFamily="2" charset="0"/>
                      </a:endParaRPr>
                    </a:p>
                  </a:txBody>
                  <a:tcPr marL="81111" marR="81111" marT="40556" marB="40556"/>
                </a:tc>
                <a:extLst>
                  <a:ext uri="{0D108BD9-81ED-4DB2-BD59-A6C34878D82A}">
                    <a16:rowId xmlns:a16="http://schemas.microsoft.com/office/drawing/2014/main" val="3419981890"/>
                  </a:ext>
                </a:extLst>
              </a:tr>
              <a:tr h="243334">
                <a:tc>
                  <a:txBody>
                    <a:bodyPr/>
                    <a:lstStyle/>
                    <a:p>
                      <a:r>
                        <a:rPr lang="it-IT" sz="1100" dirty="0" smtClean="0">
                          <a:latin typeface="Spectral Medium" pitchFamily="2" charset="0"/>
                        </a:rPr>
                        <a:t>alpha1</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0.085</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0.022</a:t>
                      </a:r>
                      <a:endParaRPr lang="it-IT" sz="1100" dirty="0">
                        <a:latin typeface="Spectral Medium" pitchFamily="2" charset="0"/>
                      </a:endParaRPr>
                    </a:p>
                  </a:txBody>
                  <a:tcPr marL="81111" marR="81111" marT="40556" marB="40556"/>
                </a:tc>
                <a:extLst>
                  <a:ext uri="{0D108BD9-81ED-4DB2-BD59-A6C34878D82A}">
                    <a16:rowId xmlns:a16="http://schemas.microsoft.com/office/drawing/2014/main" val="2799806127"/>
                  </a:ext>
                </a:extLst>
              </a:tr>
              <a:tr h="243334">
                <a:tc>
                  <a:txBody>
                    <a:bodyPr/>
                    <a:lstStyle/>
                    <a:p>
                      <a:r>
                        <a:rPr lang="it-IT" sz="1100" dirty="0" smtClean="0">
                          <a:latin typeface="Spectral Medium" pitchFamily="2" charset="0"/>
                        </a:rPr>
                        <a:t>beta1</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0.905</a:t>
                      </a:r>
                      <a:endParaRPr lang="it-IT" sz="1100" dirty="0">
                        <a:latin typeface="Spectral Medium" pitchFamily="2" charset="0"/>
                      </a:endParaRPr>
                    </a:p>
                  </a:txBody>
                  <a:tcPr marL="81111" marR="81111" marT="40556" marB="40556"/>
                </a:tc>
                <a:tc>
                  <a:txBody>
                    <a:bodyPr/>
                    <a:lstStyle/>
                    <a:p>
                      <a:r>
                        <a:rPr lang="it-IT" sz="1100" dirty="0" smtClean="0">
                          <a:latin typeface="Spectral Medium" pitchFamily="2" charset="0"/>
                        </a:rPr>
                        <a:t>&lt; 2 e^-16</a:t>
                      </a:r>
                      <a:endParaRPr lang="it-IT" sz="1100" dirty="0">
                        <a:latin typeface="Spectral Medium" pitchFamily="2" charset="0"/>
                      </a:endParaRPr>
                    </a:p>
                  </a:txBody>
                  <a:tcPr marL="81111" marR="81111" marT="40556" marB="40556"/>
                </a:tc>
                <a:extLst>
                  <a:ext uri="{0D108BD9-81ED-4DB2-BD59-A6C34878D82A}">
                    <a16:rowId xmlns:a16="http://schemas.microsoft.com/office/drawing/2014/main" val="80395896"/>
                  </a:ext>
                </a:extLst>
              </a:tr>
            </a:tbl>
          </a:graphicData>
        </a:graphic>
      </p:graphicFrame>
      <p:cxnSp>
        <p:nvCxnSpPr>
          <p:cNvPr id="11" name="Connettore diritto 10"/>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57261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Univariate</a:t>
            </a:r>
            <a:r>
              <a:rPr lang="en-GB" sz="4000" dirty="0" smtClean="0">
                <a:latin typeface="Spectral Medium" pitchFamily="2" charset="0"/>
              </a:rPr>
              <a:t> analysis on NEE:</a:t>
            </a:r>
            <a:br>
              <a:rPr lang="en-GB" sz="4000" dirty="0" smtClean="0">
                <a:latin typeface="Spectral Medium" pitchFamily="2" charset="0"/>
              </a:rPr>
            </a:br>
            <a:r>
              <a:rPr lang="en-GB" sz="2800" dirty="0" smtClean="0">
                <a:latin typeface="Spectral Medium" pitchFamily="2" charset="0"/>
              </a:rPr>
              <a:t>Model Validation </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7</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sp>
        <p:nvSpPr>
          <p:cNvPr id="9" name="Sottotitolo 2"/>
          <p:cNvSpPr txBox="1">
            <a:spLocks/>
          </p:cNvSpPr>
          <p:nvPr/>
        </p:nvSpPr>
        <p:spPr>
          <a:xfrm>
            <a:off x="838199" y="1785966"/>
            <a:ext cx="9530665"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The GARCH model successfully “cleaned” the data: there is </a:t>
            </a:r>
            <a:r>
              <a:rPr lang="en-GB" sz="1600" b="1" dirty="0" smtClean="0">
                <a:latin typeface="Spectral Medium" pitchFamily="2" charset="0"/>
                <a:ea typeface="Inter 28pt" panose="02000503000000020004" pitchFamily="2" charset="0"/>
              </a:rPr>
              <a:t>no remaining autocorrelation in</a:t>
            </a:r>
            <a:r>
              <a:rPr lang="en-GB" sz="1600" dirty="0" smtClean="0">
                <a:latin typeface="Spectral Medium" pitchFamily="2" charset="0"/>
                <a:ea typeface="Inter 28pt" panose="02000503000000020004" pitchFamily="2" charset="0"/>
              </a:rPr>
              <a:t> the mean (R), nor </a:t>
            </a:r>
            <a:r>
              <a:rPr lang="en-GB" sz="1600" b="1" dirty="0" smtClean="0">
                <a:latin typeface="Spectral Medium" pitchFamily="2" charset="0"/>
                <a:ea typeface="Inter 28pt" panose="02000503000000020004" pitchFamily="2" charset="0"/>
              </a:rPr>
              <a:t>the variance </a:t>
            </a:r>
            <a:r>
              <a:rPr lang="en-GB" sz="1600" dirty="0" smtClean="0">
                <a:latin typeface="Spectral Medium" pitchFamily="2" charset="0"/>
                <a:ea typeface="Inter 28pt" panose="02000503000000020004" pitchFamily="2" charset="0"/>
              </a:rPr>
              <a:t>(R^2): mean and variance effects have being captured. </a:t>
            </a:r>
            <a:endParaRPr lang="en-GB" sz="1600" dirty="0" smtClean="0">
              <a:latin typeface="Spectral Medium" pitchFamily="2" charset="0"/>
              <a:ea typeface="Inter 28pt" panose="02000503000000020004" pitchFamily="2" charset="0"/>
            </a:endParaRPr>
          </a:p>
          <a:p>
            <a:pPr marL="0" indent="0">
              <a:buNone/>
            </a:pPr>
            <a:r>
              <a:rPr lang="en-GB" sz="1600" dirty="0" smtClean="0">
                <a:latin typeface="Spectral Medium" pitchFamily="2" charset="0"/>
                <a:ea typeface="Inter 28pt" panose="02000503000000020004" pitchFamily="2" charset="0"/>
              </a:rPr>
              <a:t>This </a:t>
            </a:r>
            <a:r>
              <a:rPr lang="en-GB" sz="1600" dirty="0" smtClean="0">
                <a:latin typeface="Spectral Medium" pitchFamily="2" charset="0"/>
                <a:ea typeface="Inter 28pt" panose="02000503000000020004" pitchFamily="2" charset="0"/>
              </a:rPr>
              <a:t>formally validates the model for forecasting, and provides additional information also in terms of risk </a:t>
            </a:r>
            <a:r>
              <a:rPr lang="en-GB" sz="1600" dirty="0" smtClean="0">
                <a:latin typeface="Spectral Medium" pitchFamily="2" charset="0"/>
                <a:ea typeface="Inter 28pt" panose="02000503000000020004" pitchFamily="2" charset="0"/>
              </a:rPr>
              <a:t>modelling: a risk-averse investor would benefit from a forecast that includes information on the variance of the financial product he/she is investing in.</a:t>
            </a:r>
          </a:p>
          <a:p>
            <a:pPr marL="0" indent="0">
              <a:buNone/>
            </a:pPr>
            <a:r>
              <a:rPr lang="en-GB" sz="1600" dirty="0" smtClean="0">
                <a:latin typeface="Spectral Medium" pitchFamily="2" charset="0"/>
                <a:ea typeface="Inter 28pt" panose="02000503000000020004" pitchFamily="2" charset="0"/>
              </a:rPr>
              <a:t>Anyway, since we are focusing on </a:t>
            </a:r>
            <a:r>
              <a:rPr lang="en-GB" sz="1600" b="1" dirty="0" smtClean="0">
                <a:latin typeface="Spectral Medium" pitchFamily="2" charset="0"/>
                <a:ea typeface="Inter 28pt" panose="02000503000000020004" pitchFamily="2" charset="0"/>
              </a:rPr>
              <a:t>forecasting</a:t>
            </a:r>
            <a:r>
              <a:rPr lang="en-GB" sz="1600" dirty="0" smtClean="0">
                <a:latin typeface="Spectral Medium" pitchFamily="2" charset="0"/>
                <a:ea typeface="Inter 28pt" panose="02000503000000020004" pitchFamily="2" charset="0"/>
              </a:rPr>
              <a:t> the </a:t>
            </a:r>
            <a:r>
              <a:rPr lang="en-GB" sz="1600" b="1" dirty="0" smtClean="0">
                <a:latin typeface="Spectral Medium" pitchFamily="2" charset="0"/>
                <a:ea typeface="Inter 28pt" panose="02000503000000020004" pitchFamily="2" charset="0"/>
              </a:rPr>
              <a:t>expected mean returns</a:t>
            </a:r>
            <a:r>
              <a:rPr lang="en-GB" sz="1600" dirty="0" smtClean="0">
                <a:latin typeface="Spectral Medium" pitchFamily="2" charset="0"/>
                <a:ea typeface="Inter 28pt" panose="02000503000000020004" pitchFamily="2" charset="0"/>
              </a:rPr>
              <a:t>, we cannot ensure that this additional information about volatility is going to add precision to our forecast.</a:t>
            </a:r>
            <a:endParaRPr lang="en-GB" sz="1600" dirty="0" smtClean="0">
              <a:latin typeface="Spectral Medium" pitchFamily="2" charset="0"/>
              <a:ea typeface="Inter 28pt" panose="02000503000000020004" pitchFamily="2" charset="0"/>
            </a:endParaRPr>
          </a:p>
          <a:p>
            <a:pPr marL="0" indent="0">
              <a:buNone/>
            </a:pPr>
            <a:endParaRPr lang="en-GB" sz="1600" dirty="0" smtClean="0">
              <a:latin typeface="Spectral Medium" pitchFamily="2" charset="0"/>
              <a:ea typeface="Inter 28pt" panose="02000503000000020004" pitchFamily="2" charset="0"/>
            </a:endParaRPr>
          </a:p>
          <a:p>
            <a:pPr marL="0" indent="0">
              <a:buNone/>
            </a:pPr>
            <a:endParaRPr lang="en-GB" sz="1600" dirty="0" smtClean="0">
              <a:latin typeface="Spectral Medium" pitchFamily="2" charset="0"/>
              <a:ea typeface="Inter 28pt" panose="02000503000000020004" pitchFamily="2" charset="0"/>
            </a:endParaRPr>
          </a:p>
          <a:p>
            <a:pPr marL="0" indent="0">
              <a:buNone/>
            </a:pPr>
            <a:endParaRPr lang="it-IT" sz="1600" dirty="0">
              <a:latin typeface="Spectral Medium" pitchFamily="2" charset="0"/>
              <a:ea typeface="Inter 28pt" panose="02000503000000020004" pitchFamily="2" charset="0"/>
            </a:endParaRPr>
          </a:p>
        </p:txBody>
      </p:sp>
      <p:graphicFrame>
        <p:nvGraphicFramePr>
          <p:cNvPr id="6" name="Tabella 5"/>
          <p:cNvGraphicFramePr>
            <a:graphicFrameLocks noGrp="1"/>
          </p:cNvGraphicFramePr>
          <p:nvPr>
            <p:extLst>
              <p:ext uri="{D42A27DB-BD31-4B8C-83A1-F6EECF244321}">
                <p14:modId xmlns:p14="http://schemas.microsoft.com/office/powerpoint/2010/main" val="2567276663"/>
              </p:ext>
            </p:extLst>
          </p:nvPr>
        </p:nvGraphicFramePr>
        <p:xfrm>
          <a:off x="1539531" y="4042192"/>
          <a:ext cx="8128000" cy="1285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4201274796"/>
                    </a:ext>
                  </a:extLst>
                </a:gridCol>
                <a:gridCol w="1625600">
                  <a:extLst>
                    <a:ext uri="{9D8B030D-6E8A-4147-A177-3AD203B41FA5}">
                      <a16:colId xmlns:a16="http://schemas.microsoft.com/office/drawing/2014/main" val="776651943"/>
                    </a:ext>
                  </a:extLst>
                </a:gridCol>
                <a:gridCol w="1007863">
                  <a:extLst>
                    <a:ext uri="{9D8B030D-6E8A-4147-A177-3AD203B41FA5}">
                      <a16:colId xmlns:a16="http://schemas.microsoft.com/office/drawing/2014/main" val="862324120"/>
                    </a:ext>
                  </a:extLst>
                </a:gridCol>
                <a:gridCol w="927652">
                  <a:extLst>
                    <a:ext uri="{9D8B030D-6E8A-4147-A177-3AD203B41FA5}">
                      <a16:colId xmlns:a16="http://schemas.microsoft.com/office/drawing/2014/main" val="3493781947"/>
                    </a:ext>
                  </a:extLst>
                </a:gridCol>
                <a:gridCol w="2941285">
                  <a:extLst>
                    <a:ext uri="{9D8B030D-6E8A-4147-A177-3AD203B41FA5}">
                      <a16:colId xmlns:a16="http://schemas.microsoft.com/office/drawing/2014/main" val="2652249330"/>
                    </a:ext>
                  </a:extLst>
                </a:gridCol>
              </a:tblGrid>
              <a:tr h="370840">
                <a:tc>
                  <a:txBody>
                    <a:bodyPr/>
                    <a:lstStyle/>
                    <a:p>
                      <a:r>
                        <a:rPr lang="it-IT" sz="1200" dirty="0" smtClean="0">
                          <a:latin typeface="Spectral Medium" pitchFamily="2" charset="0"/>
                        </a:rPr>
                        <a:t>Test on</a:t>
                      </a:r>
                      <a:endParaRPr lang="it-IT" sz="1200" dirty="0">
                        <a:latin typeface="Spectral Medium" pitchFamily="2" charset="0"/>
                      </a:endParaRPr>
                    </a:p>
                  </a:txBody>
                  <a:tcPr/>
                </a:tc>
                <a:tc>
                  <a:txBody>
                    <a:bodyPr/>
                    <a:lstStyle/>
                    <a:p>
                      <a:r>
                        <a:rPr lang="it-IT" sz="1200" dirty="0" err="1" smtClean="0">
                          <a:latin typeface="Spectral Medium" pitchFamily="2" charset="0"/>
                        </a:rPr>
                        <a:t>Null</a:t>
                      </a:r>
                      <a:r>
                        <a:rPr lang="it-IT" sz="1200" dirty="0" smtClean="0">
                          <a:latin typeface="Spectral Medium" pitchFamily="2" charset="0"/>
                        </a:rPr>
                        <a:t> </a:t>
                      </a:r>
                      <a:r>
                        <a:rPr lang="it-IT" sz="1200" dirty="0" err="1" smtClean="0">
                          <a:latin typeface="Spectral Medium" pitchFamily="2" charset="0"/>
                        </a:rPr>
                        <a:t>Hypothesis</a:t>
                      </a:r>
                      <a:r>
                        <a:rPr lang="it-IT" sz="1200" baseline="0" dirty="0" smtClean="0">
                          <a:latin typeface="Spectral Medium" pitchFamily="2" charset="0"/>
                        </a:rPr>
                        <a:t> H0</a:t>
                      </a:r>
                      <a:endParaRPr lang="it-IT" sz="1200" dirty="0">
                        <a:latin typeface="Spectral Medium" pitchFamily="2" charset="0"/>
                      </a:endParaRPr>
                    </a:p>
                  </a:txBody>
                  <a:tcPr/>
                </a:tc>
                <a:tc>
                  <a:txBody>
                    <a:bodyPr/>
                    <a:lstStyle/>
                    <a:p>
                      <a:r>
                        <a:rPr lang="it-IT" sz="1200" dirty="0" err="1" smtClean="0">
                          <a:latin typeface="Spectral Medium" pitchFamily="2" charset="0"/>
                        </a:rPr>
                        <a:t>Tested</a:t>
                      </a:r>
                      <a:r>
                        <a:rPr lang="it-IT" sz="1200" dirty="0" smtClean="0">
                          <a:latin typeface="Spectral Medium" pitchFamily="2" charset="0"/>
                        </a:rPr>
                        <a:t> </a:t>
                      </a:r>
                      <a:r>
                        <a:rPr lang="it-IT" sz="1200" dirty="0" err="1" smtClean="0">
                          <a:latin typeface="Spectral Medium" pitchFamily="2" charset="0"/>
                        </a:rPr>
                        <a:t>Lag</a:t>
                      </a:r>
                      <a:endParaRPr lang="it-IT" sz="1200" dirty="0">
                        <a:latin typeface="Spectral Medium" pitchFamily="2" charset="0"/>
                      </a:endParaRPr>
                    </a:p>
                  </a:txBody>
                  <a:tcPr/>
                </a:tc>
                <a:tc>
                  <a:txBody>
                    <a:bodyPr/>
                    <a:lstStyle/>
                    <a:p>
                      <a:r>
                        <a:rPr lang="it-IT" sz="1200" dirty="0" smtClean="0">
                          <a:latin typeface="Spectral Medium" pitchFamily="2" charset="0"/>
                        </a:rPr>
                        <a:t>P-</a:t>
                      </a:r>
                      <a:r>
                        <a:rPr lang="it-IT" sz="1200" dirty="0" err="1" smtClean="0">
                          <a:latin typeface="Spectral Medium" pitchFamily="2" charset="0"/>
                        </a:rPr>
                        <a:t>value</a:t>
                      </a:r>
                      <a:endParaRPr lang="it-IT" sz="1200" dirty="0">
                        <a:latin typeface="Spectral Medium" pitchFamily="2" charset="0"/>
                      </a:endParaRPr>
                    </a:p>
                  </a:txBody>
                  <a:tcPr/>
                </a:tc>
                <a:tc>
                  <a:txBody>
                    <a:bodyPr/>
                    <a:lstStyle/>
                    <a:p>
                      <a:r>
                        <a:rPr lang="it-IT" sz="1200" dirty="0" err="1" smtClean="0">
                          <a:latin typeface="Spectral Medium" pitchFamily="2" charset="0"/>
                        </a:rPr>
                        <a:t>Conclusions</a:t>
                      </a:r>
                      <a:endParaRPr lang="it-IT" sz="1200" dirty="0">
                        <a:latin typeface="Spectral Medium" pitchFamily="2" charset="0"/>
                      </a:endParaRPr>
                    </a:p>
                  </a:txBody>
                  <a:tcPr/>
                </a:tc>
                <a:extLst>
                  <a:ext uri="{0D108BD9-81ED-4DB2-BD59-A6C34878D82A}">
                    <a16:rowId xmlns:a16="http://schemas.microsoft.com/office/drawing/2014/main" val="3058984434"/>
                  </a:ext>
                </a:extLst>
              </a:tr>
              <a:tr h="370840">
                <a:tc>
                  <a:txBody>
                    <a:bodyPr/>
                    <a:lstStyle/>
                    <a:p>
                      <a:r>
                        <a:rPr lang="it-IT" sz="1200" dirty="0" err="1" smtClean="0">
                          <a:latin typeface="Spectral Medium" pitchFamily="2" charset="0"/>
                        </a:rPr>
                        <a:t>Stdz</a:t>
                      </a:r>
                      <a:r>
                        <a:rPr lang="it-IT" sz="1200" dirty="0" smtClean="0">
                          <a:latin typeface="Spectral Medium" pitchFamily="2" charset="0"/>
                        </a:rPr>
                        <a:t> </a:t>
                      </a:r>
                      <a:r>
                        <a:rPr lang="it-IT" sz="1200" dirty="0" err="1" smtClean="0">
                          <a:latin typeface="Spectral Medium" pitchFamily="2" charset="0"/>
                        </a:rPr>
                        <a:t>residuals</a:t>
                      </a:r>
                      <a:r>
                        <a:rPr lang="it-IT" sz="1200" dirty="0" smtClean="0">
                          <a:latin typeface="Spectral Medium" pitchFamily="2" charset="0"/>
                        </a:rPr>
                        <a:t> (R)</a:t>
                      </a:r>
                      <a:endParaRPr lang="it-IT" sz="1200" dirty="0">
                        <a:latin typeface="Spectral Medium" pitchFamily="2" charset="0"/>
                      </a:endParaRPr>
                    </a:p>
                  </a:txBody>
                  <a:tcPr/>
                </a:tc>
                <a:tc>
                  <a:txBody>
                    <a:bodyPr/>
                    <a:lstStyle/>
                    <a:p>
                      <a:r>
                        <a:rPr lang="it-IT" sz="1200" dirty="0" smtClean="0">
                          <a:latin typeface="Spectral Medium" pitchFamily="2" charset="0"/>
                        </a:rPr>
                        <a:t>No </a:t>
                      </a:r>
                      <a:r>
                        <a:rPr lang="it-IT" sz="1200" dirty="0" err="1" smtClean="0">
                          <a:latin typeface="Spectral Medium" pitchFamily="2" charset="0"/>
                        </a:rPr>
                        <a:t>autocorrelation</a:t>
                      </a:r>
                      <a:endParaRPr lang="it-IT" sz="1200" dirty="0">
                        <a:latin typeface="Spectral Medium" pitchFamily="2" charset="0"/>
                      </a:endParaRPr>
                    </a:p>
                  </a:txBody>
                  <a:tcPr/>
                </a:tc>
                <a:tc>
                  <a:txBody>
                    <a:bodyPr/>
                    <a:lstStyle/>
                    <a:p>
                      <a:r>
                        <a:rPr lang="it-IT" sz="1200" dirty="0" smtClean="0">
                          <a:latin typeface="Spectral Medium" pitchFamily="2" charset="0"/>
                        </a:rPr>
                        <a:t>15</a:t>
                      </a:r>
                      <a:endParaRPr lang="it-IT" sz="1200" dirty="0">
                        <a:latin typeface="Spectral Medium" pitchFamily="2" charset="0"/>
                      </a:endParaRPr>
                    </a:p>
                  </a:txBody>
                  <a:tcPr/>
                </a:tc>
                <a:tc>
                  <a:txBody>
                    <a:bodyPr/>
                    <a:lstStyle/>
                    <a:p>
                      <a:r>
                        <a:rPr lang="it-IT" sz="1200" dirty="0" smtClean="0">
                          <a:latin typeface="Spectral Medium" pitchFamily="2" charset="0"/>
                        </a:rPr>
                        <a:t>0.27</a:t>
                      </a:r>
                      <a:endParaRPr lang="it-IT" sz="1200" dirty="0">
                        <a:latin typeface="Spectral Medium" pitchFamily="2" charset="0"/>
                      </a:endParaRPr>
                    </a:p>
                  </a:txBody>
                  <a:tcPr/>
                </a:tc>
                <a:tc>
                  <a:txBody>
                    <a:bodyPr/>
                    <a:lstStyle/>
                    <a:p>
                      <a:r>
                        <a:rPr lang="it-IT" sz="1200" dirty="0" smtClean="0">
                          <a:latin typeface="Spectral Medium" pitchFamily="2" charset="0"/>
                        </a:rPr>
                        <a:t>No serial</a:t>
                      </a:r>
                      <a:r>
                        <a:rPr lang="it-IT" sz="1200" baseline="0" dirty="0" smtClean="0">
                          <a:latin typeface="Spectral Medium" pitchFamily="2" charset="0"/>
                        </a:rPr>
                        <a:t> </a:t>
                      </a:r>
                      <a:r>
                        <a:rPr lang="it-IT" sz="1200" baseline="0" dirty="0" err="1" smtClean="0">
                          <a:latin typeface="Spectral Medium" pitchFamily="2" charset="0"/>
                        </a:rPr>
                        <a:t>autocorrelation</a:t>
                      </a:r>
                      <a:r>
                        <a:rPr lang="it-IT" sz="1200" baseline="0" dirty="0" smtClean="0">
                          <a:latin typeface="Spectral Medium" pitchFamily="2" charset="0"/>
                        </a:rPr>
                        <a:t> </a:t>
                      </a:r>
                      <a:r>
                        <a:rPr lang="it-IT" sz="1200" baseline="0" dirty="0" err="1" smtClean="0">
                          <a:latin typeface="Spectral Medium" pitchFamily="2" charset="0"/>
                        </a:rPr>
                        <a:t>left</a:t>
                      </a:r>
                      <a:r>
                        <a:rPr lang="it-IT" sz="1200" baseline="0" dirty="0" smtClean="0">
                          <a:latin typeface="Spectral Medium" pitchFamily="2" charset="0"/>
                        </a:rPr>
                        <a:t> in </a:t>
                      </a:r>
                      <a:r>
                        <a:rPr lang="it-IT" sz="1200" baseline="0" dirty="0" err="1" smtClean="0">
                          <a:latin typeface="Spectral Medium" pitchFamily="2" charset="0"/>
                        </a:rPr>
                        <a:t>stdz</a:t>
                      </a:r>
                      <a:r>
                        <a:rPr lang="it-IT" sz="1200" baseline="0" dirty="0" smtClean="0">
                          <a:latin typeface="Spectral Medium" pitchFamily="2" charset="0"/>
                        </a:rPr>
                        <a:t> </a:t>
                      </a:r>
                      <a:r>
                        <a:rPr lang="it-IT" sz="1200" baseline="0" dirty="0" err="1" smtClean="0">
                          <a:latin typeface="Spectral Medium" pitchFamily="2" charset="0"/>
                        </a:rPr>
                        <a:t>residuals</a:t>
                      </a:r>
                      <a:endParaRPr lang="it-IT" sz="1200" dirty="0">
                        <a:latin typeface="Spectral Medium" pitchFamily="2" charset="0"/>
                      </a:endParaRPr>
                    </a:p>
                  </a:txBody>
                  <a:tcPr/>
                </a:tc>
                <a:extLst>
                  <a:ext uri="{0D108BD9-81ED-4DB2-BD59-A6C34878D82A}">
                    <a16:rowId xmlns:a16="http://schemas.microsoft.com/office/drawing/2014/main" val="2510676148"/>
                  </a:ext>
                </a:extLst>
              </a:tr>
              <a:tr h="370840">
                <a:tc>
                  <a:txBody>
                    <a:bodyPr/>
                    <a:lstStyle/>
                    <a:p>
                      <a:r>
                        <a:rPr lang="it-IT" sz="1200" dirty="0" err="1" smtClean="0">
                          <a:latin typeface="Spectral Medium" pitchFamily="2" charset="0"/>
                        </a:rPr>
                        <a:t>Squared</a:t>
                      </a:r>
                      <a:r>
                        <a:rPr lang="it-IT" sz="1200" baseline="0" dirty="0" smtClean="0">
                          <a:latin typeface="Spectral Medium" pitchFamily="2" charset="0"/>
                        </a:rPr>
                        <a:t> </a:t>
                      </a:r>
                      <a:r>
                        <a:rPr lang="it-IT" sz="1200" baseline="0" dirty="0" err="1" smtClean="0">
                          <a:latin typeface="Spectral Medium" pitchFamily="2" charset="0"/>
                        </a:rPr>
                        <a:t>stdz</a:t>
                      </a:r>
                      <a:r>
                        <a:rPr lang="it-IT" sz="1200" baseline="0" dirty="0" smtClean="0">
                          <a:latin typeface="Spectral Medium" pitchFamily="2" charset="0"/>
                        </a:rPr>
                        <a:t> </a:t>
                      </a:r>
                      <a:r>
                        <a:rPr lang="it-IT" sz="1200" baseline="0" dirty="0" err="1" smtClean="0">
                          <a:latin typeface="Spectral Medium" pitchFamily="2" charset="0"/>
                        </a:rPr>
                        <a:t>residuals</a:t>
                      </a:r>
                      <a:r>
                        <a:rPr lang="it-IT" sz="1200" baseline="0" dirty="0" smtClean="0">
                          <a:latin typeface="Spectral Medium" pitchFamily="2" charset="0"/>
                        </a:rPr>
                        <a:t> (R^2)</a:t>
                      </a:r>
                      <a:endParaRPr lang="it-IT" sz="1200" dirty="0">
                        <a:latin typeface="Spectral Medium" pitchFamily="2" charset="0"/>
                      </a:endParaRPr>
                    </a:p>
                  </a:txBody>
                  <a:tcPr/>
                </a:tc>
                <a:tc>
                  <a:txBody>
                    <a:bodyPr/>
                    <a:lstStyle/>
                    <a:p>
                      <a:r>
                        <a:rPr lang="it-IT" sz="1200" dirty="0" smtClean="0">
                          <a:latin typeface="Spectral Medium" pitchFamily="2" charset="0"/>
                        </a:rPr>
                        <a:t>No ARCH </a:t>
                      </a:r>
                      <a:r>
                        <a:rPr lang="it-IT" sz="1200" dirty="0" err="1" smtClean="0">
                          <a:latin typeface="Spectral Medium" pitchFamily="2" charset="0"/>
                        </a:rPr>
                        <a:t>effects</a:t>
                      </a:r>
                      <a:endParaRPr lang="it-IT" sz="1200" dirty="0">
                        <a:latin typeface="Spectral Medium" pitchFamily="2" charset="0"/>
                      </a:endParaRPr>
                    </a:p>
                  </a:txBody>
                  <a:tcPr/>
                </a:tc>
                <a:tc>
                  <a:txBody>
                    <a:bodyPr/>
                    <a:lstStyle/>
                    <a:p>
                      <a:r>
                        <a:rPr lang="it-IT" sz="1200" dirty="0" smtClean="0">
                          <a:latin typeface="Spectral Medium" pitchFamily="2" charset="0"/>
                        </a:rPr>
                        <a:t>15</a:t>
                      </a:r>
                      <a:endParaRPr lang="it-IT" sz="1200" dirty="0">
                        <a:latin typeface="Spectral Medium" pitchFamily="2" charset="0"/>
                      </a:endParaRPr>
                    </a:p>
                  </a:txBody>
                  <a:tcPr/>
                </a:tc>
                <a:tc>
                  <a:txBody>
                    <a:bodyPr/>
                    <a:lstStyle/>
                    <a:p>
                      <a:r>
                        <a:rPr lang="it-IT" sz="1200" dirty="0" smtClean="0">
                          <a:latin typeface="Spectral Medium" pitchFamily="2" charset="0"/>
                        </a:rPr>
                        <a:t>0.59</a:t>
                      </a:r>
                      <a:endParaRPr lang="it-IT" sz="1200" dirty="0">
                        <a:latin typeface="Spectral Medium" pitchFamily="2" charset="0"/>
                      </a:endParaRPr>
                    </a:p>
                  </a:txBody>
                  <a:tcPr/>
                </a:tc>
                <a:tc>
                  <a:txBody>
                    <a:bodyPr/>
                    <a:lstStyle/>
                    <a:p>
                      <a:r>
                        <a:rPr lang="it-IT" sz="1200" dirty="0" smtClean="0">
                          <a:latin typeface="Spectral Medium" pitchFamily="2" charset="0"/>
                        </a:rPr>
                        <a:t>No ARCH </a:t>
                      </a:r>
                      <a:r>
                        <a:rPr lang="it-IT" sz="1200" dirty="0" err="1" smtClean="0">
                          <a:latin typeface="Spectral Medium" pitchFamily="2" charset="0"/>
                        </a:rPr>
                        <a:t>effects</a:t>
                      </a:r>
                      <a:r>
                        <a:rPr lang="it-IT" sz="1200" dirty="0" smtClean="0">
                          <a:latin typeface="Spectral Medium" pitchFamily="2" charset="0"/>
                        </a:rPr>
                        <a:t> </a:t>
                      </a:r>
                      <a:r>
                        <a:rPr lang="it-IT" sz="1200" dirty="0" err="1" smtClean="0">
                          <a:latin typeface="Spectral Medium" pitchFamily="2" charset="0"/>
                        </a:rPr>
                        <a:t>left</a:t>
                      </a:r>
                      <a:r>
                        <a:rPr lang="it-IT" sz="1200" dirty="0" smtClean="0">
                          <a:latin typeface="Spectral Medium" pitchFamily="2" charset="0"/>
                        </a:rPr>
                        <a:t> in </a:t>
                      </a:r>
                      <a:r>
                        <a:rPr lang="it-IT" sz="1200" dirty="0" err="1" smtClean="0">
                          <a:latin typeface="Spectral Medium" pitchFamily="2" charset="0"/>
                        </a:rPr>
                        <a:t>squared</a:t>
                      </a:r>
                      <a:r>
                        <a:rPr lang="it-IT" sz="1200" dirty="0" smtClean="0">
                          <a:latin typeface="Spectral Medium" pitchFamily="2" charset="0"/>
                        </a:rPr>
                        <a:t> </a:t>
                      </a:r>
                      <a:r>
                        <a:rPr lang="it-IT" sz="1200" dirty="0" err="1" smtClean="0">
                          <a:latin typeface="Spectral Medium" pitchFamily="2" charset="0"/>
                        </a:rPr>
                        <a:t>residuals</a:t>
                      </a:r>
                      <a:endParaRPr lang="it-IT" sz="1200" dirty="0">
                        <a:latin typeface="Spectral Medium" pitchFamily="2" charset="0"/>
                      </a:endParaRPr>
                    </a:p>
                  </a:txBody>
                  <a:tcPr/>
                </a:tc>
                <a:extLst>
                  <a:ext uri="{0D108BD9-81ED-4DB2-BD59-A6C34878D82A}">
                    <a16:rowId xmlns:a16="http://schemas.microsoft.com/office/drawing/2014/main" val="1654554150"/>
                  </a:ext>
                </a:extLst>
              </a:tr>
            </a:tbl>
          </a:graphicData>
        </a:graphic>
      </p:graphicFrame>
      <p:cxnSp>
        <p:nvCxnSpPr>
          <p:cNvPr id="10" name="Connettore diritto 9"/>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255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Univariate</a:t>
            </a:r>
            <a:r>
              <a:rPr lang="en-GB" sz="4000" dirty="0" smtClean="0">
                <a:latin typeface="Spectral Medium" pitchFamily="2" charset="0"/>
              </a:rPr>
              <a:t> analysis on NEE:</a:t>
            </a:r>
            <a:br>
              <a:rPr lang="en-GB" sz="4000" dirty="0" smtClean="0">
                <a:latin typeface="Spectral Medium" pitchFamily="2" charset="0"/>
              </a:rPr>
            </a:br>
            <a:r>
              <a:rPr lang="en-GB" sz="2800" dirty="0" smtClean="0">
                <a:latin typeface="Spectral Medium" pitchFamily="2" charset="0"/>
              </a:rPr>
              <a:t>Forecast and conclusions</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8</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sp>
        <p:nvSpPr>
          <p:cNvPr id="9" name="Sottotitolo 2"/>
          <p:cNvSpPr txBox="1">
            <a:spLocks/>
          </p:cNvSpPr>
          <p:nvPr/>
        </p:nvSpPr>
        <p:spPr>
          <a:xfrm>
            <a:off x="838199" y="1785966"/>
            <a:ext cx="9530665"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Statistically, </a:t>
            </a:r>
            <a:r>
              <a:rPr lang="en-GB" sz="1600" dirty="0" smtClean="0">
                <a:latin typeface="Spectral Medium" pitchFamily="2" charset="0"/>
                <a:ea typeface="Inter 28pt" panose="02000503000000020004" pitchFamily="2" charset="0"/>
              </a:rPr>
              <a:t>as we could expect, the </a:t>
            </a:r>
            <a:r>
              <a:rPr lang="en-GB" sz="1600" dirty="0" smtClean="0">
                <a:latin typeface="Spectral Medium" pitchFamily="2" charset="0"/>
                <a:ea typeface="Inter 28pt" panose="02000503000000020004" pitchFamily="2" charset="0"/>
              </a:rPr>
              <a:t>complex model (ARMA(1,1)+GARCH(1,1)) does not outperform the simple pure model (ARMA(1,1)) in predicting future mean return (p-value &gt;0.05</a:t>
            </a:r>
            <a:r>
              <a:rPr lang="en-GB" sz="1600" dirty="0" smtClean="0">
                <a:latin typeface="Spectral Medium" pitchFamily="2" charset="0"/>
                <a:ea typeface="Inter 28pt" panose="02000503000000020004" pitchFamily="2" charset="0"/>
              </a:rPr>
              <a:t>).</a:t>
            </a:r>
            <a:endParaRPr lang="en-GB" sz="1600" dirty="0" smtClean="0">
              <a:latin typeface="Spectral Medium" pitchFamily="2" charset="0"/>
              <a:ea typeface="Inter 28pt" panose="02000503000000020004" pitchFamily="2" charset="0"/>
            </a:endParaRPr>
          </a:p>
          <a:p>
            <a:pPr marL="0" indent="0">
              <a:buNone/>
            </a:pPr>
            <a:r>
              <a:rPr lang="en-GB" sz="1600" dirty="0" smtClean="0">
                <a:latin typeface="Spectral Medium" pitchFamily="2" charset="0"/>
                <a:ea typeface="Inter 28pt" panose="02000503000000020004" pitchFamily="2" charset="0"/>
              </a:rPr>
              <a:t>However, we can say that the true advantage of GARCH lies in the </a:t>
            </a:r>
            <a:r>
              <a:rPr lang="en-GB" sz="1600" b="1" dirty="0" smtClean="0">
                <a:latin typeface="Spectral Medium" pitchFamily="2" charset="0"/>
                <a:ea typeface="Inter 28pt" panose="02000503000000020004" pitchFamily="2" charset="0"/>
              </a:rPr>
              <a:t>dynamic estimation </a:t>
            </a:r>
            <a:r>
              <a:rPr lang="en-GB" sz="1600" dirty="0" smtClean="0">
                <a:latin typeface="Spectral Medium" pitchFamily="2" charset="0"/>
                <a:ea typeface="Inter 28pt" panose="02000503000000020004" pitchFamily="2" charset="0"/>
              </a:rPr>
              <a:t>of the confidence </a:t>
            </a:r>
            <a:r>
              <a:rPr lang="en-GB" sz="1600" dirty="0" smtClean="0">
                <a:latin typeface="Spectral Medium" pitchFamily="2" charset="0"/>
                <a:ea typeface="Inter 28pt" panose="02000503000000020004" pitchFamily="2" charset="0"/>
              </a:rPr>
              <a:t>interval (given from the variance effect being captured). </a:t>
            </a:r>
          </a:p>
          <a:p>
            <a:pPr marL="0" indent="0">
              <a:buNone/>
            </a:pPr>
            <a:r>
              <a:rPr lang="en-GB" sz="1600" dirty="0" smtClean="0">
                <a:latin typeface="Spectral Medium" pitchFamily="2" charset="0"/>
                <a:ea typeface="Inter 28pt" panose="02000503000000020004" pitchFamily="2" charset="0"/>
              </a:rPr>
              <a:t>This </a:t>
            </a:r>
            <a:r>
              <a:rPr lang="en-GB" sz="1600" dirty="0" smtClean="0">
                <a:latin typeface="Spectral Medium" pitchFamily="2" charset="0"/>
                <a:ea typeface="Inter 28pt" panose="02000503000000020004" pitchFamily="2" charset="0"/>
              </a:rPr>
              <a:t>is because ARMA(1,1) model underestimates risk during crises, since it assumes homoscedasticity, while </a:t>
            </a:r>
            <a:r>
              <a:rPr lang="en-GB" sz="1600" b="1" dirty="0" smtClean="0">
                <a:latin typeface="Spectral Medium" pitchFamily="2" charset="0"/>
                <a:ea typeface="Inter 28pt" panose="02000503000000020004" pitchFamily="2" charset="0"/>
              </a:rPr>
              <a:t>GARCH adapts to time-varying variance</a:t>
            </a:r>
            <a:r>
              <a:rPr lang="en-GB" sz="1600" dirty="0" smtClean="0">
                <a:latin typeface="Spectral Medium" pitchFamily="2" charset="0"/>
                <a:ea typeface="Inter 28pt" panose="02000503000000020004" pitchFamily="2" charset="0"/>
              </a:rPr>
              <a:t>, offering superior protection for, </a:t>
            </a:r>
            <a:r>
              <a:rPr lang="en-GB" sz="1600" dirty="0" smtClean="0">
                <a:latin typeface="Spectral Medium" pitchFamily="2" charset="0"/>
                <a:ea typeface="Inter 28pt" panose="02000503000000020004" pitchFamily="2" charset="0"/>
              </a:rPr>
              <a:t>as we said before</a:t>
            </a:r>
            <a:r>
              <a:rPr lang="en-GB" sz="1600" dirty="0" smtClean="0">
                <a:latin typeface="Spectral Medium" pitchFamily="2" charset="0"/>
                <a:ea typeface="Inter 28pt" panose="02000503000000020004" pitchFamily="2" charset="0"/>
              </a:rPr>
              <a:t>, investors who want to always keep an eye on the volatility of their investment.</a:t>
            </a:r>
            <a:endParaRPr lang="it-IT" sz="1600" dirty="0">
              <a:latin typeface="Spectral Medium" pitchFamily="2" charset="0"/>
              <a:ea typeface="Inter 28pt" panose="02000503000000020004" pitchFamily="2" charset="0"/>
            </a:endParaRPr>
          </a:p>
        </p:txBody>
      </p:sp>
      <p:graphicFrame>
        <p:nvGraphicFramePr>
          <p:cNvPr id="7" name="Tabella 6"/>
          <p:cNvGraphicFramePr>
            <a:graphicFrameLocks noGrp="1"/>
          </p:cNvGraphicFramePr>
          <p:nvPr>
            <p:extLst>
              <p:ext uri="{D42A27DB-BD31-4B8C-83A1-F6EECF244321}">
                <p14:modId xmlns:p14="http://schemas.microsoft.com/office/powerpoint/2010/main" val="31368896"/>
              </p:ext>
            </p:extLst>
          </p:nvPr>
        </p:nvGraphicFramePr>
        <p:xfrm>
          <a:off x="1539531" y="4114257"/>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170566472"/>
                    </a:ext>
                  </a:extLst>
                </a:gridCol>
                <a:gridCol w="2032000">
                  <a:extLst>
                    <a:ext uri="{9D8B030D-6E8A-4147-A177-3AD203B41FA5}">
                      <a16:colId xmlns:a16="http://schemas.microsoft.com/office/drawing/2014/main" val="4197120580"/>
                    </a:ext>
                  </a:extLst>
                </a:gridCol>
                <a:gridCol w="2032000">
                  <a:extLst>
                    <a:ext uri="{9D8B030D-6E8A-4147-A177-3AD203B41FA5}">
                      <a16:colId xmlns:a16="http://schemas.microsoft.com/office/drawing/2014/main" val="1733351063"/>
                    </a:ext>
                  </a:extLst>
                </a:gridCol>
                <a:gridCol w="2032000">
                  <a:extLst>
                    <a:ext uri="{9D8B030D-6E8A-4147-A177-3AD203B41FA5}">
                      <a16:colId xmlns:a16="http://schemas.microsoft.com/office/drawing/2014/main" val="3345919529"/>
                    </a:ext>
                  </a:extLst>
                </a:gridCol>
              </a:tblGrid>
              <a:tr h="370840">
                <a:tc>
                  <a:txBody>
                    <a:bodyPr/>
                    <a:lstStyle/>
                    <a:p>
                      <a:r>
                        <a:rPr lang="it-IT" sz="1200" dirty="0" err="1" smtClean="0">
                          <a:latin typeface="Spectral Medium" pitchFamily="2" charset="0"/>
                        </a:rPr>
                        <a:t>Metric</a:t>
                      </a:r>
                      <a:r>
                        <a:rPr lang="it-IT" sz="1200" dirty="0" smtClean="0">
                          <a:latin typeface="Spectral Medium" pitchFamily="2" charset="0"/>
                        </a:rPr>
                        <a:t> / Test</a:t>
                      </a:r>
                      <a:endParaRPr lang="it-IT" sz="1200" dirty="0">
                        <a:latin typeface="Spectral Medium" pitchFamily="2" charset="0"/>
                      </a:endParaRPr>
                    </a:p>
                  </a:txBody>
                  <a:tcPr/>
                </a:tc>
                <a:tc>
                  <a:txBody>
                    <a:bodyPr/>
                    <a:lstStyle/>
                    <a:p>
                      <a:r>
                        <a:rPr lang="it-IT" sz="1200" dirty="0" smtClean="0">
                          <a:latin typeface="Spectral Medium" pitchFamily="2" charset="0"/>
                        </a:rPr>
                        <a:t>GARCH model</a:t>
                      </a:r>
                      <a:endParaRPr lang="it-IT" sz="1200" dirty="0">
                        <a:latin typeface="Spectral Medium" pitchFamily="2" charset="0"/>
                      </a:endParaRPr>
                    </a:p>
                  </a:txBody>
                  <a:tcPr/>
                </a:tc>
                <a:tc>
                  <a:txBody>
                    <a:bodyPr/>
                    <a:lstStyle/>
                    <a:p>
                      <a:r>
                        <a:rPr lang="it-IT" sz="1200" dirty="0" smtClean="0">
                          <a:latin typeface="Spectral Medium" pitchFamily="2" charset="0"/>
                        </a:rPr>
                        <a:t>ARMA model</a:t>
                      </a:r>
                      <a:endParaRPr lang="it-IT" sz="1200" dirty="0">
                        <a:latin typeface="Spectral Medium" pitchFamily="2" charset="0"/>
                      </a:endParaRPr>
                    </a:p>
                  </a:txBody>
                  <a:tcPr/>
                </a:tc>
                <a:tc>
                  <a:txBody>
                    <a:bodyPr/>
                    <a:lstStyle/>
                    <a:p>
                      <a:r>
                        <a:rPr lang="it-IT" sz="1200" dirty="0" smtClean="0">
                          <a:latin typeface="Spectral Medium" pitchFamily="2" charset="0"/>
                        </a:rPr>
                        <a:t>Test </a:t>
                      </a:r>
                      <a:r>
                        <a:rPr lang="it-IT" sz="1200" dirty="0" err="1" smtClean="0">
                          <a:latin typeface="Spectral Medium" pitchFamily="2" charset="0"/>
                        </a:rPr>
                        <a:t>Result</a:t>
                      </a:r>
                      <a:endParaRPr lang="it-IT" sz="1200" dirty="0">
                        <a:latin typeface="Spectral Medium" pitchFamily="2" charset="0"/>
                      </a:endParaRPr>
                    </a:p>
                  </a:txBody>
                  <a:tcPr/>
                </a:tc>
                <a:extLst>
                  <a:ext uri="{0D108BD9-81ED-4DB2-BD59-A6C34878D82A}">
                    <a16:rowId xmlns:a16="http://schemas.microsoft.com/office/drawing/2014/main" val="3746200223"/>
                  </a:ext>
                </a:extLst>
              </a:tr>
              <a:tr h="370840">
                <a:tc>
                  <a:txBody>
                    <a:bodyPr/>
                    <a:lstStyle/>
                    <a:p>
                      <a:r>
                        <a:rPr lang="it-IT" sz="1200" dirty="0" smtClean="0">
                          <a:latin typeface="Spectral Medium" pitchFamily="2" charset="0"/>
                        </a:rPr>
                        <a:t>MAE</a:t>
                      </a:r>
                      <a:endParaRPr lang="it-IT" sz="1200" dirty="0">
                        <a:latin typeface="Spectral Medium" pitchFamily="2" charset="0"/>
                      </a:endParaRPr>
                    </a:p>
                  </a:txBody>
                  <a:tcPr/>
                </a:tc>
                <a:tc>
                  <a:txBody>
                    <a:bodyPr/>
                    <a:lstStyle/>
                    <a:p>
                      <a:r>
                        <a:rPr lang="it-IT" sz="1200" dirty="0" smtClean="0">
                          <a:latin typeface="Spectral Medium" pitchFamily="2" charset="0"/>
                        </a:rPr>
                        <a:t>0.01256</a:t>
                      </a:r>
                      <a:endParaRPr lang="it-IT" sz="1200" dirty="0">
                        <a:latin typeface="Spectral Medium" pitchFamily="2" charset="0"/>
                      </a:endParaRPr>
                    </a:p>
                  </a:txBody>
                  <a:tcPr/>
                </a:tc>
                <a:tc>
                  <a:txBody>
                    <a:bodyPr/>
                    <a:lstStyle/>
                    <a:p>
                      <a:r>
                        <a:rPr lang="it-IT" sz="1200" dirty="0" smtClean="0">
                          <a:latin typeface="Spectral Medium" pitchFamily="2" charset="0"/>
                        </a:rPr>
                        <a:t>0.01255</a:t>
                      </a:r>
                      <a:endParaRPr lang="it-IT" sz="1200" dirty="0">
                        <a:latin typeface="Spectral Medium" pitchFamily="2" charset="0"/>
                      </a:endParaRPr>
                    </a:p>
                  </a:txBody>
                  <a:tcPr/>
                </a:tc>
                <a:tc>
                  <a:txBody>
                    <a:bodyPr/>
                    <a:lstStyle/>
                    <a:p>
                      <a:r>
                        <a:rPr lang="it-IT" sz="1200" dirty="0" smtClean="0">
                          <a:latin typeface="Spectral Medium" pitchFamily="2" charset="0"/>
                        </a:rPr>
                        <a:t>-</a:t>
                      </a:r>
                      <a:endParaRPr lang="it-IT" sz="1200" dirty="0">
                        <a:latin typeface="Spectral Medium" pitchFamily="2" charset="0"/>
                      </a:endParaRPr>
                    </a:p>
                  </a:txBody>
                  <a:tcPr/>
                </a:tc>
                <a:extLst>
                  <a:ext uri="{0D108BD9-81ED-4DB2-BD59-A6C34878D82A}">
                    <a16:rowId xmlns:a16="http://schemas.microsoft.com/office/drawing/2014/main" val="1210019768"/>
                  </a:ext>
                </a:extLst>
              </a:tr>
              <a:tr h="370840">
                <a:tc>
                  <a:txBody>
                    <a:bodyPr/>
                    <a:lstStyle/>
                    <a:p>
                      <a:r>
                        <a:rPr lang="it-IT" sz="1200" dirty="0" err="1" smtClean="0">
                          <a:latin typeface="Spectral Medium" pitchFamily="2" charset="0"/>
                        </a:rPr>
                        <a:t>Diebold</a:t>
                      </a:r>
                      <a:r>
                        <a:rPr lang="it-IT" sz="1200" dirty="0" smtClean="0">
                          <a:latin typeface="Spectral Medium" pitchFamily="2" charset="0"/>
                        </a:rPr>
                        <a:t>-Mariano Test</a:t>
                      </a:r>
                      <a:endParaRPr lang="it-IT" sz="1200" dirty="0">
                        <a:latin typeface="Spectral Medium" pitchFamily="2" charset="0"/>
                      </a:endParaRPr>
                    </a:p>
                  </a:txBody>
                  <a:tcPr/>
                </a:tc>
                <a:tc>
                  <a:txBody>
                    <a:bodyPr/>
                    <a:lstStyle/>
                    <a:p>
                      <a:r>
                        <a:rPr lang="it-IT" sz="1200" dirty="0" smtClean="0">
                          <a:latin typeface="Spectral Medium" pitchFamily="2" charset="0"/>
                        </a:rPr>
                        <a:t>-</a:t>
                      </a:r>
                      <a:endParaRPr lang="it-IT" sz="1200" dirty="0">
                        <a:latin typeface="Spectral Medium" pitchFamily="2" charset="0"/>
                      </a:endParaRPr>
                    </a:p>
                  </a:txBody>
                  <a:tcPr/>
                </a:tc>
                <a:tc>
                  <a:txBody>
                    <a:bodyPr/>
                    <a:lstStyle/>
                    <a:p>
                      <a:r>
                        <a:rPr lang="it-IT" sz="1200" dirty="0" smtClean="0">
                          <a:latin typeface="Spectral Medium" pitchFamily="2" charset="0"/>
                        </a:rPr>
                        <a:t>-</a:t>
                      </a:r>
                      <a:endParaRPr lang="it-IT" sz="1200" dirty="0">
                        <a:latin typeface="Spectral Medium" pitchFamily="2" charset="0"/>
                      </a:endParaRPr>
                    </a:p>
                  </a:txBody>
                  <a:tcPr/>
                </a:tc>
                <a:tc>
                  <a:txBody>
                    <a:bodyPr/>
                    <a:lstStyle/>
                    <a:p>
                      <a:r>
                        <a:rPr lang="it-IT" sz="1200" dirty="0" smtClean="0">
                          <a:latin typeface="Spectral Medium" pitchFamily="2" charset="0"/>
                        </a:rPr>
                        <a:t>P-</a:t>
                      </a:r>
                      <a:r>
                        <a:rPr lang="it-IT" sz="1200" dirty="0" err="1" smtClean="0">
                          <a:latin typeface="Spectral Medium" pitchFamily="2" charset="0"/>
                        </a:rPr>
                        <a:t>value</a:t>
                      </a:r>
                      <a:r>
                        <a:rPr lang="it-IT" sz="1200" baseline="0" dirty="0" smtClean="0">
                          <a:latin typeface="Spectral Medium" pitchFamily="2" charset="0"/>
                        </a:rPr>
                        <a:t> = 0.825</a:t>
                      </a:r>
                      <a:endParaRPr lang="it-IT" sz="1200" dirty="0">
                        <a:latin typeface="Spectral Medium" pitchFamily="2" charset="0"/>
                      </a:endParaRPr>
                    </a:p>
                  </a:txBody>
                  <a:tcPr/>
                </a:tc>
                <a:extLst>
                  <a:ext uri="{0D108BD9-81ED-4DB2-BD59-A6C34878D82A}">
                    <a16:rowId xmlns:a16="http://schemas.microsoft.com/office/drawing/2014/main" val="946916967"/>
                  </a:ext>
                </a:extLst>
              </a:tr>
            </a:tbl>
          </a:graphicData>
        </a:graphic>
      </p:graphicFrame>
      <p:cxnSp>
        <p:nvCxnSpPr>
          <p:cNvPr id="10" name="Connettore diritto 9"/>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779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Multivariate</a:t>
            </a:r>
            <a:r>
              <a:rPr lang="en-GB" sz="4000" dirty="0" smtClean="0">
                <a:latin typeface="Spectral Medium" pitchFamily="2" charset="0"/>
              </a:rPr>
              <a:t> analysis on NEE, </a:t>
            </a:r>
            <a:r>
              <a:rPr lang="en-GB" sz="4000" dirty="0">
                <a:latin typeface="Spectral Medium" pitchFamily="2" charset="0"/>
              </a:rPr>
              <a:t>XOM</a:t>
            </a:r>
            <a:br>
              <a:rPr lang="en-GB" sz="4000" dirty="0">
                <a:latin typeface="Spectral Medium" pitchFamily="2" charset="0"/>
              </a:rPr>
            </a:br>
            <a:r>
              <a:rPr lang="en-GB" sz="2800" dirty="0" err="1" smtClean="0">
                <a:latin typeface="Spectral Medium" pitchFamily="2" charset="0"/>
              </a:rPr>
              <a:t>Cointegration</a:t>
            </a:r>
            <a:r>
              <a:rPr lang="en-GB" sz="2800" dirty="0" smtClean="0">
                <a:latin typeface="Spectral Medium" pitchFamily="2" charset="0"/>
              </a:rPr>
              <a:t> test (Johansen)</a:t>
            </a:r>
            <a:endParaRPr lang="it-IT" sz="2800" dirty="0">
              <a:latin typeface="Spectral Medium" pitchFamily="2" charset="0"/>
            </a:endParaRPr>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9</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pic>
        <p:nvPicPr>
          <p:cNvPr id="9" name="Immagin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61746" y="6430522"/>
            <a:ext cx="1148978" cy="216780"/>
          </a:xfrm>
          <a:prstGeom prst="rect">
            <a:avLst/>
          </a:prstGeom>
        </p:spPr>
      </p:pic>
      <p:graphicFrame>
        <p:nvGraphicFramePr>
          <p:cNvPr id="6" name="Tabella 5"/>
          <p:cNvGraphicFramePr>
            <a:graphicFrameLocks noGrp="1"/>
          </p:cNvGraphicFramePr>
          <p:nvPr>
            <p:extLst>
              <p:ext uri="{D42A27DB-BD31-4B8C-83A1-F6EECF244321}">
                <p14:modId xmlns:p14="http://schemas.microsoft.com/office/powerpoint/2010/main" val="337344811"/>
              </p:ext>
            </p:extLst>
          </p:nvPr>
        </p:nvGraphicFramePr>
        <p:xfrm>
          <a:off x="1539530" y="3770395"/>
          <a:ext cx="8128002" cy="11988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849580981"/>
                    </a:ext>
                  </a:extLst>
                </a:gridCol>
                <a:gridCol w="1354667">
                  <a:extLst>
                    <a:ext uri="{9D8B030D-6E8A-4147-A177-3AD203B41FA5}">
                      <a16:colId xmlns:a16="http://schemas.microsoft.com/office/drawing/2014/main" val="2496136175"/>
                    </a:ext>
                  </a:extLst>
                </a:gridCol>
                <a:gridCol w="1354667">
                  <a:extLst>
                    <a:ext uri="{9D8B030D-6E8A-4147-A177-3AD203B41FA5}">
                      <a16:colId xmlns:a16="http://schemas.microsoft.com/office/drawing/2014/main" val="1167222596"/>
                    </a:ext>
                  </a:extLst>
                </a:gridCol>
                <a:gridCol w="1354667">
                  <a:extLst>
                    <a:ext uri="{9D8B030D-6E8A-4147-A177-3AD203B41FA5}">
                      <a16:colId xmlns:a16="http://schemas.microsoft.com/office/drawing/2014/main" val="1732687859"/>
                    </a:ext>
                  </a:extLst>
                </a:gridCol>
                <a:gridCol w="1354667">
                  <a:extLst>
                    <a:ext uri="{9D8B030D-6E8A-4147-A177-3AD203B41FA5}">
                      <a16:colId xmlns:a16="http://schemas.microsoft.com/office/drawing/2014/main" val="2203996591"/>
                    </a:ext>
                  </a:extLst>
                </a:gridCol>
                <a:gridCol w="1354667">
                  <a:extLst>
                    <a:ext uri="{9D8B030D-6E8A-4147-A177-3AD203B41FA5}">
                      <a16:colId xmlns:a16="http://schemas.microsoft.com/office/drawing/2014/main" val="1943414234"/>
                    </a:ext>
                  </a:extLst>
                </a:gridCol>
              </a:tblGrid>
              <a:tr h="370840">
                <a:tc>
                  <a:txBody>
                    <a:bodyPr/>
                    <a:lstStyle/>
                    <a:p>
                      <a:r>
                        <a:rPr lang="it-IT" sz="1200" dirty="0" err="1" smtClean="0">
                          <a:latin typeface="Spectral Medium" pitchFamily="2" charset="0"/>
                        </a:rPr>
                        <a:t>Null</a:t>
                      </a:r>
                      <a:r>
                        <a:rPr lang="it-IT" sz="1200" dirty="0" smtClean="0">
                          <a:latin typeface="Spectral Medium" pitchFamily="2" charset="0"/>
                        </a:rPr>
                        <a:t> </a:t>
                      </a:r>
                      <a:r>
                        <a:rPr lang="it-IT" sz="1200" dirty="0" err="1" smtClean="0">
                          <a:latin typeface="Spectral Medium" pitchFamily="2" charset="0"/>
                        </a:rPr>
                        <a:t>Hypothesis</a:t>
                      </a:r>
                      <a:r>
                        <a:rPr lang="it-IT" sz="1200" dirty="0" smtClean="0">
                          <a:latin typeface="Spectral Medium" pitchFamily="2" charset="0"/>
                        </a:rPr>
                        <a:t> H0</a:t>
                      </a:r>
                      <a:endParaRPr lang="it-IT" sz="1200" dirty="0">
                        <a:latin typeface="Spectral Medium" pitchFamily="2" charset="0"/>
                      </a:endParaRPr>
                    </a:p>
                  </a:txBody>
                  <a:tcPr/>
                </a:tc>
                <a:tc>
                  <a:txBody>
                    <a:bodyPr/>
                    <a:lstStyle/>
                    <a:p>
                      <a:r>
                        <a:rPr lang="it-IT" sz="1200" dirty="0" smtClean="0">
                          <a:latin typeface="Spectral Medium" pitchFamily="2" charset="0"/>
                        </a:rPr>
                        <a:t>Alternative</a:t>
                      </a:r>
                      <a:endParaRPr lang="it-IT" sz="1200" dirty="0">
                        <a:latin typeface="Spectral Medium" pitchFamily="2" charset="0"/>
                      </a:endParaRPr>
                    </a:p>
                  </a:txBody>
                  <a:tcPr/>
                </a:tc>
                <a:tc>
                  <a:txBody>
                    <a:bodyPr/>
                    <a:lstStyle/>
                    <a:p>
                      <a:r>
                        <a:rPr lang="it-IT" sz="1200" dirty="0" smtClean="0">
                          <a:latin typeface="Spectral Medium" pitchFamily="2" charset="0"/>
                        </a:rPr>
                        <a:t>Test </a:t>
                      </a:r>
                      <a:r>
                        <a:rPr lang="it-IT" sz="1200" dirty="0" err="1" smtClean="0">
                          <a:latin typeface="Spectral Medium" pitchFamily="2" charset="0"/>
                        </a:rPr>
                        <a:t>Statistic</a:t>
                      </a:r>
                      <a:endParaRPr lang="it-IT" sz="1200" dirty="0">
                        <a:latin typeface="Spectral Medium" pitchFamily="2" charset="0"/>
                      </a:endParaRPr>
                    </a:p>
                  </a:txBody>
                  <a:tcPr/>
                </a:tc>
                <a:tc>
                  <a:txBody>
                    <a:bodyPr/>
                    <a:lstStyle/>
                    <a:p>
                      <a:r>
                        <a:rPr lang="it-IT" sz="1200" dirty="0" smtClean="0">
                          <a:latin typeface="Spectral Medium" pitchFamily="2" charset="0"/>
                        </a:rPr>
                        <a:t>Critical Value (5%)</a:t>
                      </a:r>
                      <a:endParaRPr lang="it-IT" sz="1200" dirty="0">
                        <a:latin typeface="Spectral Medium" pitchFamily="2" charset="0"/>
                      </a:endParaRPr>
                    </a:p>
                  </a:txBody>
                  <a:tcPr/>
                </a:tc>
                <a:tc>
                  <a:txBody>
                    <a:bodyPr/>
                    <a:lstStyle/>
                    <a:p>
                      <a:r>
                        <a:rPr lang="it-IT" sz="1200" dirty="0" err="1" smtClean="0">
                          <a:latin typeface="Spectral Medium" pitchFamily="2" charset="0"/>
                        </a:rPr>
                        <a:t>Result</a:t>
                      </a:r>
                      <a:endParaRPr lang="it-IT" sz="1200" dirty="0">
                        <a:latin typeface="Spectral Medium" pitchFamily="2" charset="0"/>
                      </a:endParaRPr>
                    </a:p>
                  </a:txBody>
                  <a:tcPr/>
                </a:tc>
                <a:tc>
                  <a:txBody>
                    <a:bodyPr/>
                    <a:lstStyle/>
                    <a:p>
                      <a:r>
                        <a:rPr lang="it-IT" sz="1200" dirty="0" err="1" smtClean="0">
                          <a:latin typeface="Spectral Medium" pitchFamily="2" charset="0"/>
                        </a:rPr>
                        <a:t>Conclusion</a:t>
                      </a:r>
                      <a:endParaRPr lang="it-IT" sz="1200" dirty="0">
                        <a:latin typeface="Spectral Medium" pitchFamily="2" charset="0"/>
                      </a:endParaRPr>
                    </a:p>
                  </a:txBody>
                  <a:tcPr/>
                </a:tc>
                <a:extLst>
                  <a:ext uri="{0D108BD9-81ED-4DB2-BD59-A6C34878D82A}">
                    <a16:rowId xmlns:a16="http://schemas.microsoft.com/office/drawing/2014/main" val="444508684"/>
                  </a:ext>
                </a:extLst>
              </a:tr>
              <a:tr h="370840">
                <a:tc>
                  <a:txBody>
                    <a:bodyPr/>
                    <a:lstStyle/>
                    <a:p>
                      <a:r>
                        <a:rPr lang="it-IT" sz="1200" dirty="0" smtClean="0">
                          <a:latin typeface="Spectral Medium" pitchFamily="2" charset="0"/>
                        </a:rPr>
                        <a:t>r</a:t>
                      </a:r>
                      <a:r>
                        <a:rPr lang="it-IT" sz="1200" baseline="0" dirty="0" smtClean="0">
                          <a:latin typeface="Spectral Medium" pitchFamily="2" charset="0"/>
                        </a:rPr>
                        <a:t> = 0 </a:t>
                      </a:r>
                      <a:endParaRPr lang="it-IT" sz="1200" dirty="0">
                        <a:latin typeface="Spectral Medium" pitchFamily="2" charset="0"/>
                      </a:endParaRPr>
                    </a:p>
                  </a:txBody>
                  <a:tcPr/>
                </a:tc>
                <a:tc>
                  <a:txBody>
                    <a:bodyPr/>
                    <a:lstStyle/>
                    <a:p>
                      <a:r>
                        <a:rPr lang="it-IT" sz="1200" dirty="0" smtClean="0">
                          <a:latin typeface="Spectral Medium" pitchFamily="2" charset="0"/>
                        </a:rPr>
                        <a:t>r</a:t>
                      </a:r>
                      <a:r>
                        <a:rPr lang="it-IT" sz="1200" baseline="0" dirty="0" smtClean="0">
                          <a:latin typeface="Spectral Medium" pitchFamily="2" charset="0"/>
                        </a:rPr>
                        <a:t> &gt; 0</a:t>
                      </a:r>
                      <a:endParaRPr lang="it-IT" sz="1200" dirty="0">
                        <a:latin typeface="Spectral Medium" pitchFamily="2" charset="0"/>
                      </a:endParaRPr>
                    </a:p>
                  </a:txBody>
                  <a:tcPr/>
                </a:tc>
                <a:tc>
                  <a:txBody>
                    <a:bodyPr/>
                    <a:lstStyle/>
                    <a:p>
                      <a:r>
                        <a:rPr lang="it-IT" sz="1200" dirty="0" smtClean="0">
                          <a:latin typeface="Spectral Medium" pitchFamily="2" charset="0"/>
                        </a:rPr>
                        <a:t>7.88</a:t>
                      </a:r>
                      <a:endParaRPr lang="it-IT" sz="1200" dirty="0">
                        <a:latin typeface="Spectral Medium" pitchFamily="2" charset="0"/>
                      </a:endParaRPr>
                    </a:p>
                  </a:txBody>
                  <a:tcPr/>
                </a:tc>
                <a:tc>
                  <a:txBody>
                    <a:bodyPr/>
                    <a:lstStyle/>
                    <a:p>
                      <a:r>
                        <a:rPr lang="it-IT" sz="1200" dirty="0" smtClean="0">
                          <a:latin typeface="Spectral Medium" pitchFamily="2" charset="0"/>
                        </a:rPr>
                        <a:t>19.96</a:t>
                      </a:r>
                      <a:endParaRPr lang="it-IT" sz="1200" dirty="0">
                        <a:latin typeface="Spectral Medium" pitchFamily="2" charset="0"/>
                      </a:endParaRPr>
                    </a:p>
                  </a:txBody>
                  <a:tcPr/>
                </a:tc>
                <a:tc>
                  <a:txBody>
                    <a:bodyPr/>
                    <a:lstStyle/>
                    <a:p>
                      <a:r>
                        <a:rPr lang="it-IT" sz="1200" dirty="0" err="1" smtClean="0">
                          <a:latin typeface="Spectral Medium" pitchFamily="2" charset="0"/>
                        </a:rPr>
                        <a:t>Don’t</a:t>
                      </a:r>
                      <a:r>
                        <a:rPr lang="it-IT" sz="1200" dirty="0" smtClean="0">
                          <a:latin typeface="Spectral Medium" pitchFamily="2" charset="0"/>
                        </a:rPr>
                        <a:t> </a:t>
                      </a:r>
                      <a:r>
                        <a:rPr lang="it-IT" sz="1200" dirty="0" err="1" smtClean="0">
                          <a:latin typeface="Spectral Medium" pitchFamily="2" charset="0"/>
                        </a:rPr>
                        <a:t>reject</a:t>
                      </a:r>
                      <a:r>
                        <a:rPr lang="it-IT" sz="1200" dirty="0" smtClean="0">
                          <a:latin typeface="Spectral Medium" pitchFamily="2" charset="0"/>
                        </a:rPr>
                        <a:t> H0</a:t>
                      </a:r>
                      <a:endParaRPr lang="it-IT" sz="1200" dirty="0">
                        <a:latin typeface="Spectral Medium" pitchFamily="2" charset="0"/>
                      </a:endParaRPr>
                    </a:p>
                  </a:txBody>
                  <a:tcPr/>
                </a:tc>
                <a:tc rowSpan="2">
                  <a:txBody>
                    <a:bodyPr/>
                    <a:lstStyle/>
                    <a:p>
                      <a:r>
                        <a:rPr lang="it-IT" sz="1200" dirty="0" smtClean="0">
                          <a:latin typeface="Spectral Medium" pitchFamily="2" charset="0"/>
                        </a:rPr>
                        <a:t>The</a:t>
                      </a:r>
                      <a:r>
                        <a:rPr lang="it-IT" sz="1200" baseline="0" dirty="0" smtClean="0">
                          <a:latin typeface="Spectral Medium" pitchFamily="2" charset="0"/>
                        </a:rPr>
                        <a:t> </a:t>
                      </a:r>
                      <a:r>
                        <a:rPr lang="it-IT" sz="1200" baseline="0" dirty="0" err="1" smtClean="0">
                          <a:latin typeface="Spectral Medium" pitchFamily="2" charset="0"/>
                        </a:rPr>
                        <a:t>two</a:t>
                      </a:r>
                      <a:r>
                        <a:rPr lang="it-IT" sz="1200" baseline="0" dirty="0" smtClean="0">
                          <a:latin typeface="Spectral Medium" pitchFamily="2" charset="0"/>
                        </a:rPr>
                        <a:t> </a:t>
                      </a:r>
                      <a:r>
                        <a:rPr lang="it-IT" sz="1200" baseline="0" dirty="0" err="1" smtClean="0">
                          <a:latin typeface="Spectral Medium" pitchFamily="2" charset="0"/>
                        </a:rPr>
                        <a:t>series</a:t>
                      </a:r>
                      <a:r>
                        <a:rPr lang="it-IT" sz="1200" baseline="0" dirty="0" smtClean="0">
                          <a:latin typeface="Spectral Medium" pitchFamily="2" charset="0"/>
                        </a:rPr>
                        <a:t> are </a:t>
                      </a:r>
                      <a:r>
                        <a:rPr lang="it-IT" sz="1200" baseline="0" dirty="0" err="1" smtClean="0">
                          <a:latin typeface="Spectral Medium" pitchFamily="2" charset="0"/>
                        </a:rPr>
                        <a:t>not</a:t>
                      </a:r>
                      <a:r>
                        <a:rPr lang="it-IT" sz="1200" baseline="0" dirty="0" smtClean="0">
                          <a:latin typeface="Spectral Medium" pitchFamily="2" charset="0"/>
                        </a:rPr>
                        <a:t> </a:t>
                      </a:r>
                      <a:r>
                        <a:rPr lang="it-IT" sz="1200" baseline="0" dirty="0" err="1" smtClean="0">
                          <a:latin typeface="Spectral Medium" pitchFamily="2" charset="0"/>
                        </a:rPr>
                        <a:t>cointegrated</a:t>
                      </a:r>
                      <a:endParaRPr lang="it-IT" sz="1200" dirty="0">
                        <a:latin typeface="Spectral Medium" pitchFamily="2" charset="0"/>
                      </a:endParaRPr>
                    </a:p>
                  </a:txBody>
                  <a:tcPr/>
                </a:tc>
                <a:extLst>
                  <a:ext uri="{0D108BD9-81ED-4DB2-BD59-A6C34878D82A}">
                    <a16:rowId xmlns:a16="http://schemas.microsoft.com/office/drawing/2014/main" val="3853249462"/>
                  </a:ext>
                </a:extLst>
              </a:tr>
              <a:tr h="370840">
                <a:tc>
                  <a:txBody>
                    <a:bodyPr/>
                    <a:lstStyle/>
                    <a:p>
                      <a:r>
                        <a:rPr lang="it-IT" sz="1200" dirty="0" smtClean="0">
                          <a:latin typeface="Spectral Medium" pitchFamily="2" charset="0"/>
                        </a:rPr>
                        <a:t>r</a:t>
                      </a:r>
                      <a:r>
                        <a:rPr lang="it-IT" sz="1200" baseline="0" dirty="0" smtClean="0">
                          <a:latin typeface="Spectral Medium" pitchFamily="2" charset="0"/>
                        </a:rPr>
                        <a:t> &lt;= 1</a:t>
                      </a:r>
                      <a:endParaRPr lang="it-IT" sz="1200" dirty="0">
                        <a:latin typeface="Spectral Medium" pitchFamily="2" charset="0"/>
                      </a:endParaRPr>
                    </a:p>
                  </a:txBody>
                  <a:tcPr/>
                </a:tc>
                <a:tc>
                  <a:txBody>
                    <a:bodyPr/>
                    <a:lstStyle/>
                    <a:p>
                      <a:r>
                        <a:rPr lang="it-IT" sz="1200" dirty="0" smtClean="0">
                          <a:latin typeface="Spectral Medium" pitchFamily="2" charset="0"/>
                        </a:rPr>
                        <a:t>r</a:t>
                      </a:r>
                      <a:r>
                        <a:rPr lang="it-IT" sz="1200" baseline="0" dirty="0" smtClean="0">
                          <a:latin typeface="Spectral Medium" pitchFamily="2" charset="0"/>
                        </a:rPr>
                        <a:t> &gt;1</a:t>
                      </a:r>
                      <a:endParaRPr lang="it-IT" sz="1200" dirty="0">
                        <a:latin typeface="Spectral Medium" pitchFamily="2" charset="0"/>
                      </a:endParaRPr>
                    </a:p>
                  </a:txBody>
                  <a:tcPr/>
                </a:tc>
                <a:tc>
                  <a:txBody>
                    <a:bodyPr/>
                    <a:lstStyle/>
                    <a:p>
                      <a:r>
                        <a:rPr lang="it-IT" sz="1200" dirty="0" smtClean="0">
                          <a:latin typeface="Spectral Medium" pitchFamily="2" charset="0"/>
                        </a:rPr>
                        <a:t>2.74</a:t>
                      </a:r>
                      <a:endParaRPr lang="it-IT" sz="1200" dirty="0">
                        <a:latin typeface="Spectral Medium" pitchFamily="2" charset="0"/>
                      </a:endParaRPr>
                    </a:p>
                  </a:txBody>
                  <a:tcPr/>
                </a:tc>
                <a:tc>
                  <a:txBody>
                    <a:bodyPr/>
                    <a:lstStyle/>
                    <a:p>
                      <a:r>
                        <a:rPr lang="it-IT" sz="1200" dirty="0" smtClean="0">
                          <a:latin typeface="Spectral Medium" pitchFamily="2" charset="0"/>
                        </a:rPr>
                        <a:t>9.24</a:t>
                      </a:r>
                      <a:endParaRPr lang="it-IT" sz="1200" dirty="0">
                        <a:latin typeface="Spectral Medium" pitchFamily="2" charset="0"/>
                      </a:endParaRPr>
                    </a:p>
                  </a:txBody>
                  <a:tcPr/>
                </a:tc>
                <a:tc>
                  <a:txBody>
                    <a:bodyPr/>
                    <a:lstStyle/>
                    <a:p>
                      <a:r>
                        <a:rPr lang="it-IT" sz="1200" dirty="0" err="1" smtClean="0">
                          <a:latin typeface="Spectral Medium" pitchFamily="2" charset="0"/>
                        </a:rPr>
                        <a:t>Don’t</a:t>
                      </a:r>
                      <a:r>
                        <a:rPr lang="it-IT" sz="1200" dirty="0" smtClean="0">
                          <a:latin typeface="Spectral Medium" pitchFamily="2" charset="0"/>
                        </a:rPr>
                        <a:t> </a:t>
                      </a:r>
                      <a:r>
                        <a:rPr lang="it-IT" sz="1200" dirty="0" err="1" smtClean="0">
                          <a:latin typeface="Spectral Medium" pitchFamily="2" charset="0"/>
                        </a:rPr>
                        <a:t>reject</a:t>
                      </a:r>
                      <a:r>
                        <a:rPr lang="it-IT" sz="1200" dirty="0" smtClean="0">
                          <a:latin typeface="Spectral Medium" pitchFamily="2" charset="0"/>
                        </a:rPr>
                        <a:t> H0</a:t>
                      </a:r>
                      <a:endParaRPr lang="it-IT" sz="1200" dirty="0">
                        <a:latin typeface="Spectral Medium" pitchFamily="2" charset="0"/>
                      </a:endParaRPr>
                    </a:p>
                  </a:txBody>
                  <a:tcPr/>
                </a:tc>
                <a:tc vMerge="1">
                  <a:txBody>
                    <a:bodyPr/>
                    <a:lstStyle/>
                    <a:p>
                      <a:endParaRPr lang="it-IT" dirty="0"/>
                    </a:p>
                  </a:txBody>
                  <a:tcPr/>
                </a:tc>
                <a:extLst>
                  <a:ext uri="{0D108BD9-81ED-4DB2-BD59-A6C34878D82A}">
                    <a16:rowId xmlns:a16="http://schemas.microsoft.com/office/drawing/2014/main" val="4235934249"/>
                  </a:ext>
                </a:extLst>
              </a:tr>
            </a:tbl>
          </a:graphicData>
        </a:graphic>
      </p:graphicFrame>
      <p:sp>
        <p:nvSpPr>
          <p:cNvPr id="11" name="Sottotitolo 2"/>
          <p:cNvSpPr txBox="1">
            <a:spLocks/>
          </p:cNvSpPr>
          <p:nvPr/>
        </p:nvSpPr>
        <p:spPr>
          <a:xfrm>
            <a:off x="838199" y="1785966"/>
            <a:ext cx="9530665"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There is no statistical evidence of a long-run equilibrium relationship between Exxon Mobil and NextEra Energy stock prices. </a:t>
            </a:r>
            <a:r>
              <a:rPr lang="en-GB" sz="1600" b="1" dirty="0" smtClean="0">
                <a:latin typeface="Spectral Medium" pitchFamily="2" charset="0"/>
                <a:ea typeface="Inter 28pt" panose="02000503000000020004" pitchFamily="2" charset="0"/>
              </a:rPr>
              <a:t>The two companies</a:t>
            </a:r>
            <a:r>
              <a:rPr lang="en-GB" sz="1600" dirty="0" smtClean="0">
                <a:latin typeface="Spectral Medium" pitchFamily="2" charset="0"/>
                <a:ea typeface="Inter 28pt" panose="02000503000000020004" pitchFamily="2" charset="0"/>
              </a:rPr>
              <a:t>, despite operating in the same sector following diametrically opposed business models, </a:t>
            </a:r>
            <a:r>
              <a:rPr lang="en-GB" sz="1600" b="1" dirty="0" smtClean="0">
                <a:latin typeface="Spectral Medium" pitchFamily="2" charset="0"/>
                <a:ea typeface="Inter 28pt" panose="02000503000000020004" pitchFamily="2" charset="0"/>
              </a:rPr>
              <a:t>follow independent stochastic trends</a:t>
            </a:r>
            <a:r>
              <a:rPr lang="en-GB" sz="1600" dirty="0" smtClean="0">
                <a:latin typeface="Spectral Medium" pitchFamily="2" charset="0"/>
                <a:ea typeface="Inter 28pt" panose="02000503000000020004" pitchFamily="2" charset="0"/>
              </a:rPr>
              <a:t>.</a:t>
            </a:r>
          </a:p>
          <a:p>
            <a:pPr marL="0" indent="0">
              <a:buNone/>
            </a:pPr>
            <a:r>
              <a:rPr lang="en-GB" sz="1600" dirty="0" smtClean="0">
                <a:latin typeface="Spectral Medium" pitchFamily="2" charset="0"/>
                <a:ea typeface="Inter 28pt" panose="02000503000000020004" pitchFamily="2" charset="0"/>
              </a:rPr>
              <a:t>This result rules out the use of a Vector Error Correction Modell (VECM), and suggests analysing short-term interactions via a Vector Autoregressive Model (VAR) on returns.</a:t>
            </a:r>
          </a:p>
        </p:txBody>
      </p:sp>
      <p:cxnSp>
        <p:nvCxnSpPr>
          <p:cNvPr id="12" name="Connettore diritto 11"/>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44400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 name="Segnaposto piè di pagina 3"/>
          <p:cNvSpPr>
            <a:spLocks noGrp="1"/>
          </p:cNvSpPr>
          <p:nvPr>
            <p:ph type="ftr" sz="quarter" idx="11"/>
          </p:nvPr>
        </p:nvSpPr>
        <p:spPr/>
        <p:txBody>
          <a:bodyPr/>
          <a:lstStyle/>
          <a:p>
            <a:r>
              <a:rPr lang="it-IT" dirty="0" smtClean="0"/>
              <a:t>Advanced Time Series Analysis – 2025 </a:t>
            </a:r>
            <a:r>
              <a:rPr lang="it-IT" dirty="0" err="1" smtClean="0"/>
              <a:t>Homework</a:t>
            </a:r>
            <a:endParaRPr lang="it-IT" dirty="0"/>
          </a:p>
        </p:txBody>
      </p:sp>
      <p:sp>
        <p:nvSpPr>
          <p:cNvPr id="5" name="Segnaposto numero diapositiva 4"/>
          <p:cNvSpPr>
            <a:spLocks noGrp="1"/>
          </p:cNvSpPr>
          <p:nvPr>
            <p:ph type="sldNum" sz="quarter" idx="12"/>
          </p:nvPr>
        </p:nvSpPr>
        <p:spPr/>
        <p:txBody>
          <a:bodyPr/>
          <a:lstStyle/>
          <a:p>
            <a:fld id="{9F7CB109-2702-4A25-BFA4-6AE44BDF3EDF}" type="slidenum">
              <a:rPr lang="it-IT" smtClean="0"/>
              <a:t>10</a:t>
            </a:fld>
            <a:endParaRPr lang="it-IT" dirty="0"/>
          </a:p>
        </p:txBody>
      </p:sp>
      <p:pic>
        <p:nvPicPr>
          <p:cNvPr id="55" name="Immagine 54"/>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pic>
        <p:nvPicPr>
          <p:cNvPr id="9" name="Immagin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61746" y="6430522"/>
            <a:ext cx="1148978" cy="216780"/>
          </a:xfrm>
          <a:prstGeom prst="rect">
            <a:avLst/>
          </a:prstGeom>
        </p:spPr>
      </p:pic>
      <p:graphicFrame>
        <p:nvGraphicFramePr>
          <p:cNvPr id="7" name="Tabella 6"/>
          <p:cNvGraphicFramePr>
            <a:graphicFrameLocks noGrp="1"/>
          </p:cNvGraphicFramePr>
          <p:nvPr>
            <p:extLst>
              <p:ext uri="{D42A27DB-BD31-4B8C-83A1-F6EECF244321}">
                <p14:modId xmlns:p14="http://schemas.microsoft.com/office/powerpoint/2010/main" val="2683906781"/>
              </p:ext>
            </p:extLst>
          </p:nvPr>
        </p:nvGraphicFramePr>
        <p:xfrm>
          <a:off x="1539531" y="4409049"/>
          <a:ext cx="8128000" cy="1285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4109838041"/>
                    </a:ext>
                  </a:extLst>
                </a:gridCol>
                <a:gridCol w="1625600">
                  <a:extLst>
                    <a:ext uri="{9D8B030D-6E8A-4147-A177-3AD203B41FA5}">
                      <a16:colId xmlns:a16="http://schemas.microsoft.com/office/drawing/2014/main" val="3760507067"/>
                    </a:ext>
                  </a:extLst>
                </a:gridCol>
                <a:gridCol w="1625600">
                  <a:extLst>
                    <a:ext uri="{9D8B030D-6E8A-4147-A177-3AD203B41FA5}">
                      <a16:colId xmlns:a16="http://schemas.microsoft.com/office/drawing/2014/main" val="2714096910"/>
                    </a:ext>
                  </a:extLst>
                </a:gridCol>
                <a:gridCol w="1625600">
                  <a:extLst>
                    <a:ext uri="{9D8B030D-6E8A-4147-A177-3AD203B41FA5}">
                      <a16:colId xmlns:a16="http://schemas.microsoft.com/office/drawing/2014/main" val="1238903402"/>
                    </a:ext>
                  </a:extLst>
                </a:gridCol>
                <a:gridCol w="1625600">
                  <a:extLst>
                    <a:ext uri="{9D8B030D-6E8A-4147-A177-3AD203B41FA5}">
                      <a16:colId xmlns:a16="http://schemas.microsoft.com/office/drawing/2014/main" val="2503068912"/>
                    </a:ext>
                  </a:extLst>
                </a:gridCol>
              </a:tblGrid>
              <a:tr h="370840">
                <a:tc>
                  <a:txBody>
                    <a:bodyPr/>
                    <a:lstStyle/>
                    <a:p>
                      <a:r>
                        <a:rPr lang="it-IT" sz="1200" dirty="0" err="1" smtClean="0">
                          <a:latin typeface="Spectral Medium" pitchFamily="2" charset="0"/>
                        </a:rPr>
                        <a:t>Dependent</a:t>
                      </a:r>
                      <a:r>
                        <a:rPr lang="it-IT" sz="1200" baseline="0" dirty="0" smtClean="0">
                          <a:latin typeface="Spectral Medium" pitchFamily="2" charset="0"/>
                        </a:rPr>
                        <a:t> </a:t>
                      </a:r>
                      <a:r>
                        <a:rPr lang="it-IT" sz="1200" baseline="0" dirty="0" err="1" smtClean="0">
                          <a:latin typeface="Spectral Medium" pitchFamily="2" charset="0"/>
                        </a:rPr>
                        <a:t>Variable</a:t>
                      </a:r>
                      <a:r>
                        <a:rPr lang="it-IT" sz="1200" baseline="0" dirty="0" smtClean="0">
                          <a:latin typeface="Spectral Medium" pitchFamily="2" charset="0"/>
                        </a:rPr>
                        <a:t> (</a:t>
                      </a:r>
                      <a:r>
                        <a:rPr lang="it-IT" sz="1200" baseline="0" dirty="0" err="1" smtClean="0">
                          <a:latin typeface="Spectral Medium" pitchFamily="2" charset="0"/>
                        </a:rPr>
                        <a:t>Today</a:t>
                      </a:r>
                      <a:r>
                        <a:rPr lang="it-IT" sz="1200" baseline="0" dirty="0" smtClean="0">
                          <a:latin typeface="Spectral Medium" pitchFamily="2" charset="0"/>
                        </a:rPr>
                        <a:t>)</a:t>
                      </a:r>
                      <a:endParaRPr lang="it-IT" sz="1200" dirty="0">
                        <a:latin typeface="Spectral Medium" pitchFamily="2" charset="0"/>
                      </a:endParaRPr>
                    </a:p>
                  </a:txBody>
                  <a:tcPr/>
                </a:tc>
                <a:tc>
                  <a:txBody>
                    <a:bodyPr/>
                    <a:lstStyle/>
                    <a:p>
                      <a:r>
                        <a:rPr lang="it-IT" sz="1200" dirty="0" err="1" smtClean="0">
                          <a:latin typeface="Spectral Medium" pitchFamily="2" charset="0"/>
                        </a:rPr>
                        <a:t>Explanatory</a:t>
                      </a:r>
                      <a:r>
                        <a:rPr lang="it-IT" sz="1200" baseline="0" dirty="0" smtClean="0">
                          <a:latin typeface="Spectral Medium" pitchFamily="2" charset="0"/>
                        </a:rPr>
                        <a:t> </a:t>
                      </a:r>
                      <a:r>
                        <a:rPr lang="it-IT" sz="1200" baseline="0" dirty="0" err="1" smtClean="0">
                          <a:latin typeface="Spectral Medium" pitchFamily="2" charset="0"/>
                        </a:rPr>
                        <a:t>Variable</a:t>
                      </a:r>
                      <a:r>
                        <a:rPr lang="it-IT" sz="1200" baseline="0" dirty="0" smtClean="0">
                          <a:latin typeface="Spectral Medium" pitchFamily="2" charset="0"/>
                        </a:rPr>
                        <a:t> (Yesterday, </a:t>
                      </a:r>
                      <a:r>
                        <a:rPr lang="it-IT" sz="1200" baseline="0" dirty="0" err="1" smtClean="0">
                          <a:latin typeface="Spectral Medium" pitchFamily="2" charset="0"/>
                        </a:rPr>
                        <a:t>Lag</a:t>
                      </a:r>
                      <a:r>
                        <a:rPr lang="it-IT" sz="1200" baseline="0" dirty="0" smtClean="0">
                          <a:latin typeface="Spectral Medium" pitchFamily="2" charset="0"/>
                        </a:rPr>
                        <a:t> 1)</a:t>
                      </a:r>
                      <a:endParaRPr lang="it-IT" sz="1200" dirty="0">
                        <a:latin typeface="Spectral Medium" pitchFamily="2" charset="0"/>
                      </a:endParaRPr>
                    </a:p>
                  </a:txBody>
                  <a:tcPr/>
                </a:tc>
                <a:tc>
                  <a:txBody>
                    <a:bodyPr/>
                    <a:lstStyle/>
                    <a:p>
                      <a:r>
                        <a:rPr lang="it-IT" sz="1200" dirty="0" err="1" smtClean="0">
                          <a:latin typeface="Spectral Medium" pitchFamily="2" charset="0"/>
                        </a:rPr>
                        <a:t>Coefficient</a:t>
                      </a:r>
                      <a:endParaRPr lang="it-IT" sz="1200" dirty="0">
                        <a:latin typeface="Spectral Medium" pitchFamily="2" charset="0"/>
                      </a:endParaRPr>
                    </a:p>
                  </a:txBody>
                  <a:tcPr/>
                </a:tc>
                <a:tc>
                  <a:txBody>
                    <a:bodyPr/>
                    <a:lstStyle/>
                    <a:p>
                      <a:r>
                        <a:rPr lang="it-IT" sz="1200" dirty="0" smtClean="0">
                          <a:latin typeface="Spectral Medium" pitchFamily="2" charset="0"/>
                        </a:rPr>
                        <a:t>P-</a:t>
                      </a:r>
                      <a:r>
                        <a:rPr lang="it-IT" sz="1200" dirty="0" err="1" smtClean="0">
                          <a:latin typeface="Spectral Medium" pitchFamily="2" charset="0"/>
                        </a:rPr>
                        <a:t>value</a:t>
                      </a:r>
                      <a:endParaRPr lang="it-IT" sz="1200" dirty="0">
                        <a:latin typeface="Spectral Medium" pitchFamily="2" charset="0"/>
                      </a:endParaRPr>
                    </a:p>
                  </a:txBody>
                  <a:tcPr/>
                </a:tc>
                <a:tc>
                  <a:txBody>
                    <a:bodyPr/>
                    <a:lstStyle/>
                    <a:p>
                      <a:r>
                        <a:rPr lang="it-IT" sz="1200" dirty="0" err="1" smtClean="0">
                          <a:latin typeface="Spectral Medium" pitchFamily="2" charset="0"/>
                        </a:rPr>
                        <a:t>Conclusions</a:t>
                      </a:r>
                      <a:endParaRPr lang="it-IT" sz="1200" dirty="0">
                        <a:latin typeface="Spectral Medium" pitchFamily="2" charset="0"/>
                      </a:endParaRPr>
                    </a:p>
                  </a:txBody>
                  <a:tcPr/>
                </a:tc>
                <a:extLst>
                  <a:ext uri="{0D108BD9-81ED-4DB2-BD59-A6C34878D82A}">
                    <a16:rowId xmlns:a16="http://schemas.microsoft.com/office/drawing/2014/main" val="38528549"/>
                  </a:ext>
                </a:extLst>
              </a:tr>
              <a:tr h="370840">
                <a:tc>
                  <a:txBody>
                    <a:bodyPr/>
                    <a:lstStyle/>
                    <a:p>
                      <a:r>
                        <a:rPr lang="it-IT" sz="1200" baseline="0" dirty="0" smtClean="0">
                          <a:latin typeface="Spectral Medium" pitchFamily="2" charset="0"/>
                        </a:rPr>
                        <a:t>XOM </a:t>
                      </a:r>
                      <a:r>
                        <a:rPr lang="it-IT" sz="1200" baseline="0" dirty="0" err="1" smtClean="0">
                          <a:latin typeface="Spectral Medium" pitchFamily="2" charset="0"/>
                        </a:rPr>
                        <a:t>r</a:t>
                      </a:r>
                      <a:r>
                        <a:rPr lang="it-IT" sz="1200" dirty="0" err="1" smtClean="0">
                          <a:latin typeface="Spectral Medium" pitchFamily="2" charset="0"/>
                        </a:rPr>
                        <a:t>eturn</a:t>
                      </a:r>
                      <a:endParaRPr lang="it-IT" sz="1200" dirty="0">
                        <a:latin typeface="Spectral Medium" pitchFamily="2" charset="0"/>
                      </a:endParaRPr>
                    </a:p>
                  </a:txBody>
                  <a:tcPr/>
                </a:tc>
                <a:tc>
                  <a:txBody>
                    <a:bodyPr/>
                    <a:lstStyle/>
                    <a:p>
                      <a:r>
                        <a:rPr lang="it-IT" sz="1200" dirty="0" smtClean="0">
                          <a:latin typeface="Spectral Medium" pitchFamily="2" charset="0"/>
                        </a:rPr>
                        <a:t>NEE </a:t>
                      </a:r>
                      <a:r>
                        <a:rPr lang="it-IT" sz="1200" dirty="0" err="1" smtClean="0">
                          <a:latin typeface="Spectral Medium" pitchFamily="2" charset="0"/>
                        </a:rPr>
                        <a:t>return</a:t>
                      </a:r>
                      <a:endParaRPr lang="it-IT" sz="1200" dirty="0">
                        <a:latin typeface="Spectral Medium" pitchFamily="2" charset="0"/>
                      </a:endParaRPr>
                    </a:p>
                  </a:txBody>
                  <a:tcPr/>
                </a:tc>
                <a:tc>
                  <a:txBody>
                    <a:bodyPr/>
                    <a:lstStyle/>
                    <a:p>
                      <a:r>
                        <a:rPr lang="it-IT" sz="1200" dirty="0" smtClean="0">
                          <a:latin typeface="Spectral Medium" pitchFamily="2" charset="0"/>
                        </a:rPr>
                        <a:t>-0.074</a:t>
                      </a:r>
                      <a:endParaRPr lang="it-IT" sz="1200" dirty="0">
                        <a:latin typeface="Spectral Medium" pitchFamily="2" charset="0"/>
                      </a:endParaRPr>
                    </a:p>
                  </a:txBody>
                  <a:tcPr/>
                </a:tc>
                <a:tc>
                  <a:txBody>
                    <a:bodyPr/>
                    <a:lstStyle/>
                    <a:p>
                      <a:r>
                        <a:rPr lang="it-IT" sz="1200" dirty="0" smtClean="0">
                          <a:latin typeface="Spectral Medium" pitchFamily="2" charset="0"/>
                        </a:rPr>
                        <a:t>-0.0007 *</a:t>
                      </a:r>
                      <a:endParaRPr lang="it-IT" sz="1200" dirty="0">
                        <a:latin typeface="Spectral Medium" pitchFamily="2" charset="0"/>
                      </a:endParaRPr>
                    </a:p>
                  </a:txBody>
                  <a:tcPr/>
                </a:tc>
                <a:tc>
                  <a:txBody>
                    <a:bodyPr/>
                    <a:lstStyle/>
                    <a:p>
                      <a:r>
                        <a:rPr lang="it-IT" sz="1200" dirty="0" err="1" smtClean="0">
                          <a:latin typeface="Spectral Medium" pitchFamily="2" charset="0"/>
                        </a:rPr>
                        <a:t>Significant</a:t>
                      </a:r>
                      <a:r>
                        <a:rPr lang="it-IT" sz="1200" baseline="0" dirty="0" smtClean="0">
                          <a:latin typeface="Spectral Medium" pitchFamily="2" charset="0"/>
                        </a:rPr>
                        <a:t> </a:t>
                      </a:r>
                      <a:r>
                        <a:rPr lang="it-IT" sz="1200" baseline="0" dirty="0" err="1" smtClean="0">
                          <a:latin typeface="Spectral Medium" pitchFamily="2" charset="0"/>
                        </a:rPr>
                        <a:t>causality</a:t>
                      </a:r>
                      <a:endParaRPr lang="it-IT" sz="1200" dirty="0">
                        <a:latin typeface="Spectral Medium" pitchFamily="2" charset="0"/>
                      </a:endParaRPr>
                    </a:p>
                  </a:txBody>
                  <a:tcPr/>
                </a:tc>
                <a:extLst>
                  <a:ext uri="{0D108BD9-81ED-4DB2-BD59-A6C34878D82A}">
                    <a16:rowId xmlns:a16="http://schemas.microsoft.com/office/drawing/2014/main" val="3929394673"/>
                  </a:ext>
                </a:extLst>
              </a:tr>
              <a:tr h="370840">
                <a:tc>
                  <a:txBody>
                    <a:bodyPr/>
                    <a:lstStyle/>
                    <a:p>
                      <a:r>
                        <a:rPr lang="it-IT" sz="1200" dirty="0" smtClean="0">
                          <a:latin typeface="Spectral Medium" pitchFamily="2" charset="0"/>
                        </a:rPr>
                        <a:t>NEE </a:t>
                      </a:r>
                      <a:r>
                        <a:rPr lang="it-IT" sz="1200" dirty="0" err="1" smtClean="0">
                          <a:latin typeface="Spectral Medium" pitchFamily="2" charset="0"/>
                        </a:rPr>
                        <a:t>return</a:t>
                      </a:r>
                      <a:endParaRPr lang="it-IT" sz="1200" dirty="0">
                        <a:latin typeface="Spectral Medium" pitchFamily="2" charset="0"/>
                      </a:endParaRPr>
                    </a:p>
                  </a:txBody>
                  <a:tcPr/>
                </a:tc>
                <a:tc>
                  <a:txBody>
                    <a:bodyPr/>
                    <a:lstStyle/>
                    <a:p>
                      <a:r>
                        <a:rPr lang="it-IT" sz="1200" dirty="0" smtClean="0">
                          <a:latin typeface="Spectral Medium" pitchFamily="2" charset="0"/>
                        </a:rPr>
                        <a:t>XOM </a:t>
                      </a:r>
                      <a:r>
                        <a:rPr lang="it-IT" sz="1200" dirty="0" err="1" smtClean="0">
                          <a:latin typeface="Spectral Medium" pitchFamily="2" charset="0"/>
                        </a:rPr>
                        <a:t>return</a:t>
                      </a:r>
                      <a:endParaRPr lang="it-IT" sz="1200" dirty="0">
                        <a:latin typeface="Spectral Medium" pitchFamily="2" charset="0"/>
                      </a:endParaRPr>
                    </a:p>
                  </a:txBody>
                  <a:tcPr/>
                </a:tc>
                <a:tc>
                  <a:txBody>
                    <a:bodyPr/>
                    <a:lstStyle/>
                    <a:p>
                      <a:r>
                        <a:rPr lang="it-IT" sz="1200" dirty="0" smtClean="0">
                          <a:latin typeface="Spectral Medium" pitchFamily="2" charset="0"/>
                        </a:rPr>
                        <a:t>-0.024</a:t>
                      </a:r>
                      <a:endParaRPr lang="it-IT" sz="1200" dirty="0">
                        <a:latin typeface="Spectral Medium" pitchFamily="2" charset="0"/>
                      </a:endParaRPr>
                    </a:p>
                  </a:txBody>
                  <a:tcPr/>
                </a:tc>
                <a:tc>
                  <a:txBody>
                    <a:bodyPr/>
                    <a:lstStyle/>
                    <a:p>
                      <a:r>
                        <a:rPr lang="it-IT" sz="1200" dirty="0" smtClean="0">
                          <a:latin typeface="Spectral Medium" pitchFamily="2" charset="0"/>
                        </a:rPr>
                        <a:t>0.161 (</a:t>
                      </a:r>
                      <a:r>
                        <a:rPr lang="it-IT" sz="1200" dirty="0" err="1" smtClean="0">
                          <a:latin typeface="Spectral Medium" pitchFamily="2" charset="0"/>
                        </a:rPr>
                        <a:t>n.s.</a:t>
                      </a:r>
                      <a:r>
                        <a:rPr lang="it-IT" sz="1200" dirty="0" smtClean="0">
                          <a:latin typeface="Spectral Medium" pitchFamily="2" charset="0"/>
                        </a:rPr>
                        <a:t>)</a:t>
                      </a:r>
                      <a:endParaRPr lang="it-IT" sz="1200" dirty="0">
                        <a:latin typeface="Spectral Medium" pitchFamily="2" charset="0"/>
                      </a:endParaRPr>
                    </a:p>
                  </a:txBody>
                  <a:tcPr/>
                </a:tc>
                <a:tc>
                  <a:txBody>
                    <a:bodyPr/>
                    <a:lstStyle/>
                    <a:p>
                      <a:r>
                        <a:rPr lang="it-IT" sz="1200" dirty="0" smtClean="0">
                          <a:latin typeface="Spectral Medium" pitchFamily="2" charset="0"/>
                        </a:rPr>
                        <a:t>No </a:t>
                      </a:r>
                      <a:r>
                        <a:rPr lang="it-IT" sz="1200" dirty="0" err="1" smtClean="0">
                          <a:latin typeface="Spectral Medium" pitchFamily="2" charset="0"/>
                        </a:rPr>
                        <a:t>significant</a:t>
                      </a:r>
                      <a:r>
                        <a:rPr lang="it-IT" sz="1200" dirty="0" smtClean="0">
                          <a:latin typeface="Spectral Medium" pitchFamily="2" charset="0"/>
                        </a:rPr>
                        <a:t> </a:t>
                      </a:r>
                      <a:r>
                        <a:rPr lang="it-IT" sz="1200" dirty="0" err="1" smtClean="0">
                          <a:latin typeface="Spectral Medium" pitchFamily="2" charset="0"/>
                        </a:rPr>
                        <a:t>causality</a:t>
                      </a:r>
                      <a:endParaRPr lang="it-IT" sz="1200" dirty="0">
                        <a:latin typeface="Spectral Medium" pitchFamily="2" charset="0"/>
                      </a:endParaRPr>
                    </a:p>
                  </a:txBody>
                  <a:tcPr/>
                </a:tc>
                <a:extLst>
                  <a:ext uri="{0D108BD9-81ED-4DB2-BD59-A6C34878D82A}">
                    <a16:rowId xmlns:a16="http://schemas.microsoft.com/office/drawing/2014/main" val="277583403"/>
                  </a:ext>
                </a:extLst>
              </a:tr>
            </a:tbl>
          </a:graphicData>
        </a:graphic>
      </p:graphicFrame>
      <p:sp>
        <p:nvSpPr>
          <p:cNvPr id="12" name="Sottotitolo 2"/>
          <p:cNvSpPr txBox="1">
            <a:spLocks/>
          </p:cNvSpPr>
          <p:nvPr/>
        </p:nvSpPr>
        <p:spPr>
          <a:xfrm>
            <a:off x="838199" y="1785966"/>
            <a:ext cx="9530665" cy="422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smtClean="0">
                <a:latin typeface="Spectral Medium" pitchFamily="2" charset="0"/>
                <a:ea typeface="Inter 28pt" panose="02000503000000020004" pitchFamily="2" charset="0"/>
              </a:rPr>
              <a:t>From the VAR model a clear informational asymmetry emerges. Past movements of NextEra Energy (renewable leader) negatively predict Exxon Mobil (</a:t>
            </a:r>
            <a:r>
              <a:rPr lang="en-GB" sz="1600" dirty="0" err="1" smtClean="0">
                <a:latin typeface="Spectral Medium" pitchFamily="2" charset="0"/>
                <a:ea typeface="Inter 28pt" panose="02000503000000020004" pitchFamily="2" charset="0"/>
              </a:rPr>
              <a:t>oil&amp;gas</a:t>
            </a:r>
            <a:r>
              <a:rPr lang="en-GB" sz="1600" dirty="0" smtClean="0">
                <a:latin typeface="Spectral Medium" pitchFamily="2" charset="0"/>
                <a:ea typeface="Inter 28pt" panose="02000503000000020004" pitchFamily="2" charset="0"/>
              </a:rPr>
              <a:t> leader</a:t>
            </a:r>
            <a:r>
              <a:rPr lang="en-GB" sz="1600" dirty="0">
                <a:latin typeface="Spectral Medium" pitchFamily="2" charset="0"/>
                <a:ea typeface="Inter 28pt" panose="02000503000000020004" pitchFamily="2" charset="0"/>
              </a:rPr>
              <a:t>)</a:t>
            </a:r>
            <a:r>
              <a:rPr lang="en-GB" sz="1600" dirty="0" smtClean="0">
                <a:latin typeface="Spectral Medium" pitchFamily="2" charset="0"/>
                <a:ea typeface="Inter 28pt" panose="02000503000000020004" pitchFamily="2" charset="0"/>
              </a:rPr>
              <a:t> returns, but not vice versa </a:t>
            </a:r>
            <a:r>
              <a:rPr lang="en-GB" sz="1600" dirty="0" smtClean="0">
                <a:latin typeface="Spectral Medium" pitchFamily="2" charset="0"/>
                <a:ea typeface="Inter 28pt" panose="02000503000000020004" pitchFamily="2" charset="0"/>
              </a:rPr>
              <a:t/>
            </a:r>
            <a:br>
              <a:rPr lang="en-GB" sz="1600" dirty="0" smtClean="0">
                <a:latin typeface="Spectral Medium" pitchFamily="2" charset="0"/>
                <a:ea typeface="Inter 28pt" panose="02000503000000020004" pitchFamily="2" charset="0"/>
              </a:rPr>
            </a:br>
            <a:r>
              <a:rPr lang="en-GB" sz="1600" dirty="0" smtClean="0">
                <a:latin typeface="Spectral Medium" pitchFamily="2" charset="0"/>
                <a:ea typeface="Inter 28pt" panose="02000503000000020004" pitchFamily="2" charset="0"/>
              </a:rPr>
              <a:t>(i.e. </a:t>
            </a:r>
            <a:r>
              <a:rPr lang="en-GB" sz="1600" b="1" dirty="0" smtClean="0">
                <a:latin typeface="Spectral Medium" pitchFamily="2" charset="0"/>
                <a:ea typeface="Inter 28pt" panose="02000503000000020004" pitchFamily="2" charset="0"/>
              </a:rPr>
              <a:t>NEE Granger-causes XOM, but not vice versa</a:t>
            </a:r>
            <a:r>
              <a:rPr lang="en-GB" sz="1600" dirty="0" smtClean="0">
                <a:latin typeface="Spectral Medium" pitchFamily="2" charset="0"/>
                <a:ea typeface="Inter 28pt" panose="02000503000000020004" pitchFamily="2" charset="0"/>
              </a:rPr>
              <a:t>).</a:t>
            </a:r>
            <a:endParaRPr lang="en-GB" sz="1600" dirty="0" smtClean="0">
              <a:latin typeface="Spectral Medium" pitchFamily="2" charset="0"/>
              <a:ea typeface="Inter 28pt" panose="02000503000000020004" pitchFamily="2" charset="0"/>
            </a:endParaRPr>
          </a:p>
          <a:p>
            <a:pPr marL="0" indent="0">
              <a:buNone/>
            </a:pPr>
            <a:r>
              <a:rPr lang="en-GB" sz="1600" dirty="0" smtClean="0">
                <a:latin typeface="Spectral Medium" pitchFamily="2" charset="0"/>
                <a:ea typeface="Inter 28pt" panose="02000503000000020004" pitchFamily="2" charset="0"/>
              </a:rPr>
              <a:t>We can give an economic, </a:t>
            </a:r>
            <a:r>
              <a:rPr lang="en-GB" sz="1600" b="1" dirty="0" smtClean="0">
                <a:latin typeface="Spectral Medium" pitchFamily="2" charset="0"/>
                <a:ea typeface="Inter 28pt" panose="02000503000000020004" pitchFamily="2" charset="0"/>
              </a:rPr>
              <a:t>financial</a:t>
            </a:r>
            <a:r>
              <a:rPr lang="en-GB" sz="1600" dirty="0" smtClean="0">
                <a:latin typeface="Spectral Medium" pitchFamily="2" charset="0"/>
                <a:ea typeface="Inter 28pt" panose="02000503000000020004" pitchFamily="2" charset="0"/>
              </a:rPr>
              <a:t> </a:t>
            </a:r>
            <a:r>
              <a:rPr lang="en-GB" sz="1600" b="1" dirty="0" smtClean="0">
                <a:latin typeface="Spectral Medium" pitchFamily="2" charset="0"/>
                <a:ea typeface="Inter 28pt" panose="02000503000000020004" pitchFamily="2" charset="0"/>
              </a:rPr>
              <a:t>interpretation</a:t>
            </a:r>
            <a:r>
              <a:rPr lang="en-GB" sz="1600" dirty="0" smtClean="0">
                <a:latin typeface="Spectral Medium" pitchFamily="2" charset="0"/>
                <a:ea typeface="Inter 28pt" panose="02000503000000020004" pitchFamily="2" charset="0"/>
              </a:rPr>
              <a:t> to this result: </a:t>
            </a:r>
          </a:p>
          <a:p>
            <a:pPr marL="0" indent="0">
              <a:buNone/>
            </a:pPr>
            <a:r>
              <a:rPr lang="en-GB" sz="1600" dirty="0" smtClean="0">
                <a:latin typeface="Spectral Medium" pitchFamily="2" charset="0"/>
                <a:ea typeface="Inter 28pt" panose="02000503000000020004" pitchFamily="2" charset="0"/>
              </a:rPr>
              <a:t>The negative sign (-0.074) on XOM return’s coefficient suggests a portfolio rebalancing effect: when the green sector (NEE) performs well, investors tend to sell or underweight the traditional sector (XOM) the following day. Crucially, this does not hold in reverse: strong performance in fossil fuels (XOM) seems to not trigger a significant sell-off in renewables (NEE), highlighting the resilience and stickiness of green asset allocations in investor portfolios.</a:t>
            </a:r>
          </a:p>
        </p:txBody>
      </p:sp>
      <p:sp>
        <p:nvSpPr>
          <p:cNvPr id="2" name="Titolo 1"/>
          <p:cNvSpPr>
            <a:spLocks noGrp="1"/>
          </p:cNvSpPr>
          <p:nvPr>
            <p:ph type="title"/>
          </p:nvPr>
        </p:nvSpPr>
        <p:spPr/>
        <p:txBody>
          <a:bodyPr>
            <a:normAutofit/>
          </a:bodyPr>
          <a:lstStyle/>
          <a:p>
            <a:r>
              <a:rPr lang="en-GB" sz="4000" b="1" dirty="0" smtClean="0">
                <a:latin typeface="Spectral Medium" pitchFamily="2" charset="0"/>
              </a:rPr>
              <a:t>Multivariate</a:t>
            </a:r>
            <a:r>
              <a:rPr lang="en-GB" sz="4000" dirty="0" smtClean="0">
                <a:latin typeface="Spectral Medium" pitchFamily="2" charset="0"/>
              </a:rPr>
              <a:t> analysis on NEE, </a:t>
            </a:r>
            <a:r>
              <a:rPr lang="en-GB" sz="4000" dirty="0">
                <a:latin typeface="Spectral Medium" pitchFamily="2" charset="0"/>
              </a:rPr>
              <a:t>XOM</a:t>
            </a:r>
            <a:br>
              <a:rPr lang="en-GB" sz="4000" dirty="0">
                <a:latin typeface="Spectral Medium" pitchFamily="2" charset="0"/>
              </a:rPr>
            </a:br>
            <a:r>
              <a:rPr lang="en-GB" sz="2800" dirty="0" smtClean="0">
                <a:latin typeface="Spectral Medium" pitchFamily="2" charset="0"/>
              </a:rPr>
              <a:t>VAR and </a:t>
            </a:r>
            <a:r>
              <a:rPr lang="en-GB" sz="2800" dirty="0" smtClean="0">
                <a:latin typeface="Spectral Medium" pitchFamily="2" charset="0"/>
              </a:rPr>
              <a:t>conclusions on Granger Causality</a:t>
            </a:r>
            <a:endParaRPr lang="it-IT" sz="2800" dirty="0">
              <a:latin typeface="Spectral Medium" pitchFamily="2" charset="0"/>
            </a:endParaRPr>
          </a:p>
        </p:txBody>
      </p:sp>
      <p:cxnSp>
        <p:nvCxnSpPr>
          <p:cNvPr id="11" name="Connettore diritto 10"/>
          <p:cNvCxnSpPr/>
          <p:nvPr/>
        </p:nvCxnSpPr>
        <p:spPr>
          <a:xfrm>
            <a:off x="838198" y="1494191"/>
            <a:ext cx="7941798" cy="282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3692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p:cNvSpPr/>
          <p:nvPr/>
        </p:nvSpPr>
        <p:spPr>
          <a:xfrm>
            <a:off x="-146304" y="-82296"/>
            <a:ext cx="12460224" cy="70317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p:cNvSpPr>
            <a:spLocks noGrp="1"/>
          </p:cNvSpPr>
          <p:nvPr>
            <p:ph type="title"/>
          </p:nvPr>
        </p:nvSpPr>
        <p:spPr>
          <a:xfrm>
            <a:off x="3627823" y="2770790"/>
            <a:ext cx="4911969" cy="1325563"/>
          </a:xfrm>
        </p:spPr>
        <p:txBody>
          <a:bodyPr>
            <a:normAutofit/>
          </a:bodyPr>
          <a:lstStyle/>
          <a:p>
            <a:pPr algn="ctr"/>
            <a:r>
              <a:rPr lang="it-IT" sz="5400" dirty="0" err="1" smtClean="0">
                <a:latin typeface="Spectral Medium" pitchFamily="2" charset="0"/>
              </a:rPr>
              <a:t>Thank</a:t>
            </a:r>
            <a:r>
              <a:rPr lang="it-IT" sz="5400" dirty="0" smtClean="0">
                <a:latin typeface="Spectral Medium" pitchFamily="2" charset="0"/>
              </a:rPr>
              <a:t> </a:t>
            </a:r>
            <a:r>
              <a:rPr lang="it-IT" sz="5400" dirty="0" err="1" smtClean="0">
                <a:latin typeface="Spectral Medium" pitchFamily="2" charset="0"/>
              </a:rPr>
              <a:t>you</a:t>
            </a:r>
            <a:endParaRPr lang="it-IT" sz="5400" dirty="0">
              <a:latin typeface="Spectral Medium" pitchFamily="2" charset="0"/>
            </a:endParaRPr>
          </a:p>
        </p:txBody>
      </p:sp>
      <p:sp>
        <p:nvSpPr>
          <p:cNvPr id="5" name="Segnaposto numero diapositiva 4"/>
          <p:cNvSpPr>
            <a:spLocks noGrp="1"/>
          </p:cNvSpPr>
          <p:nvPr>
            <p:ph type="sldNum" sz="quarter" idx="12"/>
          </p:nvPr>
        </p:nvSpPr>
        <p:spPr/>
        <p:txBody>
          <a:bodyPr/>
          <a:lstStyle/>
          <a:p>
            <a:fld id="{9F7CB109-2702-4A25-BFA4-6AE44BDF3EDF}" type="slidenum">
              <a:rPr lang="it-IT" smtClean="0"/>
              <a:t>11</a:t>
            </a:fld>
            <a:endParaRPr lang="it-IT" dirty="0"/>
          </a:p>
        </p:txBody>
      </p:sp>
      <p:pic>
        <p:nvPicPr>
          <p:cNvPr id="9" name="Immagine 8"/>
          <p:cNvPicPr>
            <a:picLocks noChangeAspect="1"/>
          </p:cNvPicPr>
          <p:nvPr/>
        </p:nvPicPr>
        <p:blipFill rotWithShape="1">
          <a:blip r:embed="rId2" cstate="print">
            <a:extLst>
              <a:ext uri="{28A0092B-C50C-407E-A947-70E740481C1C}">
                <a14:useLocalDpi xmlns:a14="http://schemas.microsoft.com/office/drawing/2010/main" val="0"/>
              </a:ext>
            </a:extLst>
          </a:blip>
          <a:srcRect l="5179" t="34000" r="5129" b="34154"/>
          <a:stretch/>
        </p:blipFill>
        <p:spPr>
          <a:xfrm>
            <a:off x="10368864" y="138875"/>
            <a:ext cx="1661746" cy="590020"/>
          </a:xfrm>
          <a:prstGeom prst="rect">
            <a:avLst/>
          </a:prstGeom>
        </p:spPr>
      </p:pic>
      <p:sp>
        <p:nvSpPr>
          <p:cNvPr id="10" name="Segnaposto piè di pagina 3"/>
          <p:cNvSpPr>
            <a:spLocks noGrp="1"/>
          </p:cNvSpPr>
          <p:nvPr>
            <p:ph type="ftr" sz="quarter" idx="11"/>
          </p:nvPr>
        </p:nvSpPr>
        <p:spPr>
          <a:xfrm>
            <a:off x="4038600" y="6356350"/>
            <a:ext cx="4114800" cy="365125"/>
          </a:xfrm>
        </p:spPr>
        <p:txBody>
          <a:bodyPr/>
          <a:lstStyle/>
          <a:p>
            <a:r>
              <a:rPr lang="it-IT" dirty="0" smtClean="0"/>
              <a:t>Advanced Time Series Analysis – 2025 </a:t>
            </a:r>
            <a:r>
              <a:rPr lang="it-IT" dirty="0" err="1" smtClean="0"/>
              <a:t>Homework</a:t>
            </a:r>
            <a:endParaRPr lang="it-IT" dirty="0"/>
          </a:p>
        </p:txBody>
      </p:sp>
      <p:pic>
        <p:nvPicPr>
          <p:cNvPr id="11" name="Immagin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58" y="6356350"/>
            <a:ext cx="1046481" cy="462196"/>
          </a:xfrm>
          <a:prstGeom prst="rect">
            <a:avLst/>
          </a:prstGeom>
        </p:spPr>
      </p:pic>
      <p:pic>
        <p:nvPicPr>
          <p:cNvPr id="12" name="Immagin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61746" y="6430522"/>
            <a:ext cx="1148978" cy="216780"/>
          </a:xfrm>
          <a:prstGeom prst="rect">
            <a:avLst/>
          </a:prstGeom>
        </p:spPr>
      </p:pic>
      <p:pic>
        <p:nvPicPr>
          <p:cNvPr id="13" name="Immagin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0144" y="3397347"/>
            <a:ext cx="3541686" cy="3552092"/>
          </a:xfrm>
          <a:prstGeom prst="rect">
            <a:avLst/>
          </a:prstGeom>
        </p:spPr>
      </p:pic>
      <p:sp>
        <p:nvSpPr>
          <p:cNvPr id="14" name="Sottotitolo 2"/>
          <p:cNvSpPr txBox="1">
            <a:spLocks/>
          </p:cNvSpPr>
          <p:nvPr/>
        </p:nvSpPr>
        <p:spPr>
          <a:xfrm>
            <a:off x="-703385" y="286862"/>
            <a:ext cx="3621454" cy="7566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1800" dirty="0" smtClean="0">
                <a:latin typeface="Spectral Medium" pitchFamily="2" charset="0"/>
                <a:ea typeface="Inter 28pt" panose="02000503000000020004" pitchFamily="2" charset="0"/>
              </a:rPr>
              <a:t>Paolo Rinaldi</a:t>
            </a:r>
            <a:endParaRPr lang="it-IT" sz="1800" dirty="0">
              <a:latin typeface="Spectral Medium" pitchFamily="2" charset="0"/>
              <a:ea typeface="Inter 28pt" panose="02000503000000020004" pitchFamily="2" charset="0"/>
            </a:endParaRPr>
          </a:p>
        </p:txBody>
      </p:sp>
    </p:spTree>
    <p:extLst>
      <p:ext uri="{BB962C8B-B14F-4D97-AF65-F5344CB8AC3E}">
        <p14:creationId xmlns:p14="http://schemas.microsoft.com/office/powerpoint/2010/main" val="236599617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1505</TotalTime>
  <Words>1336</Words>
  <Application>Microsoft Office PowerPoint</Application>
  <PresentationFormat>Widescreen</PresentationFormat>
  <Paragraphs>187</Paragraphs>
  <Slides>11</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11</vt:i4>
      </vt:variant>
    </vt:vector>
  </HeadingPairs>
  <TitlesOfParts>
    <vt:vector size="18" baseType="lpstr">
      <vt:lpstr>Arial</vt:lpstr>
      <vt:lpstr>Calibri</vt:lpstr>
      <vt:lpstr>Calibri Light</vt:lpstr>
      <vt:lpstr>Inter 28pt</vt:lpstr>
      <vt:lpstr>Spectral</vt:lpstr>
      <vt:lpstr>Spectral Medium</vt:lpstr>
      <vt:lpstr>Tema di Office</vt:lpstr>
      <vt:lpstr>Advanced Time Series Analysis</vt:lpstr>
      <vt:lpstr>Time series and source of data</vt:lpstr>
      <vt:lpstr>Univariate analysis on NEE: Identification and Estimation</vt:lpstr>
      <vt:lpstr>Univariate analysis on NEE: Model Identification </vt:lpstr>
      <vt:lpstr>Univariate analysis on NEE: Model Identification </vt:lpstr>
      <vt:lpstr>Univariate analysis on NEE: Model Estimation</vt:lpstr>
      <vt:lpstr>Univariate analysis on NEE: Model Validation </vt:lpstr>
      <vt:lpstr>Univariate analysis on NEE: Forecast and conclusions</vt:lpstr>
      <vt:lpstr>Multivariate analysis on NEE, XOM Cointegration test (Johansen)</vt:lpstr>
      <vt:lpstr>Multivariate analysis on NEE, XOM VAR and conclusions on Granger Causality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Paolo</dc:creator>
  <cp:lastModifiedBy>Paolo Rinaldi</cp:lastModifiedBy>
  <cp:revision>113</cp:revision>
  <dcterms:created xsi:type="dcterms:W3CDTF">2025-03-04T19:23:47Z</dcterms:created>
  <dcterms:modified xsi:type="dcterms:W3CDTF">2025-12-12T15:11:58Z</dcterms:modified>
</cp:coreProperties>
</file>